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7498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Aptos Display"/>
              </a:rPr>
              <a:t>Cheniere Follow-On &amp; GdF SPAs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Economic-term comparison of the five remaining LNG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969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BG Gulf Coast A&amp;R  •  Centrica  •  Gas Natural Fenosa (CC)  •  Woodside  •  Gaz de France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43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F8E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6440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Track how Cheniere's fixed-leg recovery evolved after 2011: the 2012 BG amendment scales separate UFC/MSC charges across four trains, while the 2013-14 SPAs embed the fixed component as Xy and price a buyer suspension right at exactly Xy. The 2007 GdF master is the reverse trade: DES imports into Sabine Pass under seller-held cancellation options. This is an economic comparison, not a legal blackline.</a:t>
            </a:r>
          </a:p>
        </p:txBody>
      </p:sp>
      <p:sp>
        <p:nvSpPr>
          <p:cNvPr id="8" name="Arc 7"/>
          <p:cNvSpPr/>
          <p:nvPr/>
        </p:nvSpPr>
        <p:spPr>
          <a:xfrm rot="18000000">
            <a:off x="8183879" y="566928"/>
            <a:ext cx="2788920" cy="2788920"/>
          </a:xfrm>
          <a:prstGeom prst="arc">
            <a:avLst/>
          </a:prstGeom>
          <a:noFill/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 rot="12600000">
            <a:off x="8796528" y="1627632"/>
            <a:ext cx="1417320" cy="1417320"/>
          </a:xfrm>
          <a:prstGeom prst="arc">
            <a:avLst/>
          </a:prstGeom>
          <a:noFill/>
          <a:ln w="25400">
            <a:solidFill>
              <a:srgbClr val="B3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7200000">
            <a:off x="7818120" y="2176272"/>
            <a:ext cx="960120" cy="960120"/>
          </a:xfrm>
          <a:prstGeom prst="arc">
            <a:avLst/>
          </a:prstGeom>
          <a:noFill/>
          <a:ln w="2286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B5F8E"/>
                </a:solidFill>
                <a:latin typeface="Calibri"/>
              </a:rPr>
              <a:t>Visible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36B00"/>
                </a:solidFill>
                <a:latin typeface="Calibri"/>
              </a:rPr>
              <a:t>Structural differences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3261E"/>
                </a:solidFill>
                <a:latin typeface="Calibri"/>
              </a:rPr>
              <a:t>Modelling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Executive read-across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Four Cheniere FOB SPAs on the common 1.15 x HH skeleton, plus one 2007 DES master agreement; financial constants are stated in full, not redacted.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506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All four FOB SPAs price at 1.15 x HH. The three 2013-14 SPAs (Centrica, GNF-CC, Woodside) embed the fixed leg as Xy and give Buyer a suspension right priced at Xy x scheduled quantities. The BG A&amp;R keeps separate UFC/MSC, stepped across Trains 1-4. Liability caps and CPI baselines are stated in full.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2588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B5F8E"/>
                </a:solidFill>
                <a:latin typeface="Calibri"/>
              </a:rPr>
              <a:t>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5506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The 2013-14 contracts are one template family (Total-style): model suspension as a paid pause in which only the Xy leg survives. Model the BG A&amp;R as MSC survival across cancellation, DoP and FM. Pre-5th-anniversary liability caps compute to ~US$3.29/MMBtu of ACQ in all four (arithmetic, not contract text).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6B00"/>
                </a:solidFill>
                <a:latin typeface="Calibri"/>
              </a:rPr>
              <a:t>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55064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GdF master leaves price and quantity to Specific Orders; only Specific Order No. 1 is visible. Centrica's CPI0 anchors to the year the third SPL train becomes capable: unresolvable until that year is known. Extension-period pricing is visible only in the BG A&amp;R.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109728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461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246120"/>
            <a:ext cx="196596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32461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Commercial 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246120"/>
            <a:ext cx="7498079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32461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Key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97280" cy="45720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033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7033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37033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No material difference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3703320"/>
            <a:ext cx="74980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37033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HH-linked commodity leg in all five; FOB delivery, buyer shipping, ratable scheduling in the four SPAs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60520"/>
            <a:ext cx="1097280" cy="45720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605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160520"/>
            <a:ext cx="196596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1952" y="4160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Visible economic difference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4160520"/>
            <a:ext cx="7498079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41605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UFC/MSC vs embedded Xy; suspension vs cancellation; DES vs FOB; per-train tranche mechanics (BG A&amp;R)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1097280" cy="45720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6177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6177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1952" y="46177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Framework similar, but caveats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617720"/>
            <a:ext cx="74980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67912" y="46177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Maintenance caps and bases; CPI0 anchor conventions; credit support mechanics; GdF master openness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Contract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Quantity is shown but not RAG-scored; size is buyer-specific commercial volume, not a drafting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691640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264" y="1325880"/>
            <a:ext cx="1988819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32588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Seller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1083" y="1325880"/>
            <a:ext cx="1988819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5947" y="132588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Buyer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3" y="1325880"/>
            <a:ext cx="1988819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7" y="132588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Signature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8723" y="1325880"/>
            <a:ext cx="1988819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3588" y="132588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Visible quantity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3" y="1325880"/>
            <a:ext cx="822960" cy="5669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1325880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92807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92807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BG Gulf Coast A&amp;R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12264" y="1892807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1892807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1083" y="1892807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55947" y="1892807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BG Gulf Coast LNG, LLC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3" y="1892807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7" y="1892807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25 Jan 2012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8723" y="1892807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3588" y="1892807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286.5m MMBtu/yr at full 4-train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3" y="1892807"/>
            <a:ext cx="822960" cy="566928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7" y="1892807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459736"/>
            <a:ext cx="169164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459736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Centrica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12264" y="2459736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8" y="2459736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01083" y="2459736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55947" y="2459736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Centrica plc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3" y="2459736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7" y="2459736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22 Mar 2013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78723" y="2459736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3588" y="2459736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91.25m MMBtu/yr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3" y="2459736"/>
            <a:ext cx="822960" cy="566928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7" y="2459736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3026664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3026664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Gas Natural Fenosa (CC)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12264" y="3026664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7128" y="3026664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Corpus Christi Liquefaction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01083" y="3026664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55947" y="3026664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Gas Natural Fenosa LNG SL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9903" y="3026664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7" y="3026664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2 Jun 2014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78723" y="3026664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3588" y="3026664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78.215m MMBtu/yr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3" y="3026664"/>
            <a:ext cx="822960" cy="566928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3026664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593592"/>
            <a:ext cx="169164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593592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Woodside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12264" y="3593592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7128" y="3593592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Corpus Christi Liquefaction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01083" y="3593592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55947" y="3593592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Woodside Energy Trading Singapore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9903" y="3593592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44767" y="3593592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30 Jun 2014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8723" y="3593592"/>
            <a:ext cx="1988819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3588" y="3593592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44.12m MMBtu/yr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3" y="3593592"/>
            <a:ext cx="822960" cy="566928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7" y="3593592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416052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4160520"/>
            <a:ext cx="15819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Gaz de France master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12264" y="4160520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7128" y="416052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Per Specific Order (SO1: GDF sells)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01083" y="4160520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55947" y="416052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Per Specific Order (SO1: Cheniere Mktg buys)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9903" y="4160520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44767" y="416052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26 Apr 2007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78723" y="4160520"/>
            <a:ext cx="19888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3588" y="4160520"/>
            <a:ext cx="18790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SO1: 7 cargoes x 2.6-3.5m MMBtu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3" y="4160520"/>
            <a:ext cx="822960" cy="566928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22407" y="4160520"/>
            <a:ext cx="7132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656" y="4928616"/>
            <a:ext cx="10607040" cy="6858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6384" y="4928616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Observation: the GdF contract is a DES master agreement; quantities and price sit in Specific Orders, and either party can be buyer or seller per order. The other four are 20-year FOB SPAs. BG A&amp;R ACQ builds as tranches: 182.5m (T1) + 36.5m (T2) + 34.0m (T3) + 33.5m (T4).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Three structural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 five contracts split into a multi-train UFC/MSC amendment, an embedded-Xy suspension template, and a DES master framework.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B5F8E"/>
                </a:solidFill>
                <a:latin typeface="Calibri"/>
              </a:rPr>
              <a:t>1. Multi-train UFC / MSC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BG Gulf Coast A&amp;R (2012). Separate capacity charge: UFC Base steps up at each Train DFCD (1.9125 / 2.0375 / 2.1215 / 2.1848); MSC = UFC x Q/12 invoiced monthly; per-train tranche cancellation rights.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6B00"/>
                </a:solidFill>
                <a:latin typeface="Calibri"/>
              </a:rPr>
              <a:t>2. Embedded Xy + suspension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Centrica (2013), GNF-CC and Woodside (2014). Fixed leg inside CSP as Xy; buyer may suspend deliveries (min. 1 month, 2-month notice) paying a Suspension Fee = Xy x scheduled quantities of the suspended 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261E"/>
                </a:solidFill>
                <a:latin typeface="Calibri"/>
              </a:rPr>
              <a:t>3. DES master + Specific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00784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GdF (2007). Framework contract; each Specific Order sets parties, quantity, price and ships. SO1: GDF sells 7 cargoes DES into Sabine Pass at 94% x HH minus US$0.65, with seller-held cancellation options.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200400"/>
            <a:ext cx="10607040" cy="86868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20040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Lineage: the 2011 SPL SPAs recover the fixed leg as UFC/MSC (BG, GNF) or embedded Xy (GAIL, Total). The 2012 BG A&amp;R extends UFC/MSC to four trains. From Centrica (2013) onward the embedded-Xy form wins, and the Total-style suspension right becomes standard; Corpus Christi raises X0 from US$3.00 to US$3.50.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297680"/>
            <a:ext cx="106070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2976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Modelling consequence: the same economic object (a CPI-escalated fixed leg that survives buyer non-lifting) is invoiced through three different routes: separate monthly charge, cargo price component, or suspension fee.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Visible price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All five are Henry Hub-linked and stated in full; architecture, constants and CPI weights differ.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691640" cy="62179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264" y="1325880"/>
            <a:ext cx="4137660" cy="62179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325880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Visible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9924" y="1325880"/>
            <a:ext cx="4137660" cy="62179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325880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Fixed / capacity 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7584" y="1325880"/>
            <a:ext cx="777240" cy="62179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1325880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1947672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47672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BG Gulf Coast A&amp;R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12264" y="1947672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1947672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CSP = 1.15 x HH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1947672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4788" y="1947672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UFCm = Base + 0.3375 x CPIy/CPI0; Base steps 1.9125 / 2.0375 / 2.1215 / 2.1848 by Train DFCD; MSC = UFC x Q/12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87584" y="1947672"/>
            <a:ext cx="777240" cy="621792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8" y="1947672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2569464"/>
            <a:ext cx="169164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69464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Centrica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12264" y="2569464"/>
            <a:ext cx="41376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2569464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CSP = (1.15 x HH) + Xy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9924" y="2569464"/>
            <a:ext cx="41376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4788" y="2569464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Xy = (0.885 + 0.115 x CPI(y-1)/CPI0) x X0; X0 = US$3.00/MMBtu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87584" y="2569464"/>
            <a:ext cx="777240" cy="621792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2569464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3191256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191256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GNF (Corpus Christi)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12264" y="3191256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8" y="3191256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CSP = (1.15 x HH) + 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9924" y="3191256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4788" y="3191256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Xy = (0.86 + 0.14 x CPI(y-1)/CPI0) x X0; X0 = US$3.50/MMBtu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87584" y="3191256"/>
            <a:ext cx="777240" cy="621792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3191256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" y="3813048"/>
            <a:ext cx="169164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3813048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Woodside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12264" y="3813048"/>
            <a:ext cx="41376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67128" y="3813048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CSP = (1.15 x HH) + Xy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9924" y="3813048"/>
            <a:ext cx="41376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4788" y="3813048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Xy = (0.885 + 0.115 x CPI(y-1)/CPI0) x X0; X0 = US$3.50/MMBtu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87584" y="3813048"/>
            <a:ext cx="777240" cy="621792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42448" y="3813048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" y="4434840"/>
            <a:ext cx="1691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4434840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GdF Specific Order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12264" y="4434840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67128" y="4434840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P = 94% x HH (NYMEX prompt) - US$0.65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49924" y="4434840"/>
            <a:ext cx="41376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4788" y="4434840"/>
            <a:ext cx="402793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1E293B"/>
                </a:solidFill>
                <a:latin typeface="Calibri"/>
              </a:rPr>
              <a:t>None; flat per-order price (master: price per Specific Order)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87584" y="4434840"/>
            <a:ext cx="777240" cy="621792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42448" y="4434840"/>
            <a:ext cx="6675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" y="5239512"/>
            <a:ext cx="10607040" cy="6858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" y="5239512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RAG is RED because architecture differs, not the HH link: the four SPAs sell at a premium to HH (export economics); GdF SO1 buys at a discount to HH (2007 import economics into the same terminal). No price term on this slide is redacted.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Appendix A: formula detail as filed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CPI series is BLS CPI-U (CUUR0000SA0) throughout; the CPI0 anchor convention differs per contract.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623560" cy="196596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61872"/>
            <a:ext cx="54041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BG Gulf Coast A&amp;R: UFC / MSC (9.2, 9.3)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17904"/>
            <a:ext cx="540410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UFCm = Base + (0.3375 x CPIy / CPI0)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Base: 1.9125 pre-T2 DFCD; 2.0375 T2; 2.1215 T3; 2.1848 T4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MSC = UFC x Q/12, Q = MACQ - MQ (MACQ steps by train)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Extension Base: 1.9125 up to 182.5m MMBtu, above that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Base = (182.5m/A) x 1.9125 + ((A-182.5m)/A) x 2.6625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CPI0 = 12-month average preceding Train 1 DFCD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196596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Embedded Xy family (9.1.2)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517904"/>
            <a:ext cx="517550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Centrica:  Xy = (0.885 + 0.115 x CPI(y-1)/CPI0) x US$3.00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GNF-CC:   Xy = (0.86 + 0.14 x CPI(y-1)/CPI0) x US$3.50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Woodside: Xy = (0.885 + 0.115 x CPI(y-1)/CPI0) x US$3.50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CPI0 anchors: Centrica = calendar year in which the third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SPL train becomes capable; GNF-CC = calendar 2017;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Woodside = calendar 2014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83280"/>
            <a:ext cx="5623560" cy="1965960"/>
          </a:xfrm>
          <a:prstGeom prst="rect">
            <a:avLst/>
          </a:prstGeom>
          <a:solidFill>
            <a:srgbClr val="EEF4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456432"/>
            <a:ext cx="54041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GdF Specific Order 1: price and underdelivery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712464"/>
            <a:ext cx="540410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P = 94% x NYMEX HH final settlement (Prompt Month) - US$0.65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Prompt Month = month in which the Arrival Period ends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(next month if it ends on/after the 25th)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Cargo Underdelivery Amount = Nominal Quantity x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max(Cover Difference, US$1.00); Cover Difference =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4-day Platts Gas Daily HH average after the Arrival Period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minus 80% x 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83280"/>
            <a:ext cx="5394960" cy="1965960"/>
          </a:xfrm>
          <a:prstGeom prst="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45643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GdF Specific Order 1: cancellation 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712464"/>
            <a:ext cx="517550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Lot 1: either party may cancel by 29 Feb 2008, no liability.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Seller may cancel lots 2-7: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  all six: 0.25 USD x 6 x 3.05m MMBtu (Total Cancellation Fee)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  any one: 0.50 USD x 3.05m MMBtu (Individual Cancellation Fee)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(3.05m = (2.6m + 3.5m)/2 deemed Nominal Quantity)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Fees are Buyer's sole and exclusive remedy; no replacement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cargo obligation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5486400"/>
            <a:ext cx="10607040" cy="56692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48640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Fact: additive CPI escalation (BG A&amp;R: 0.3375 term on top of a fixed Base) and multiplicative escalation (Xy family: 11.5-14% weight inside the constant) respond differently to inflation; do not treat the fixed legs as interchangeable.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Non-lifting rights and fixed-leg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In all four Cheniere SPAs the fixed leg survives buyer non-lifting; only the invoicing route differs.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554480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5104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BG-GC A&amp;R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3592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Centrica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GNF (CC)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Woodside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6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GdF (DES)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67544" y="1325880"/>
            <a:ext cx="685800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1325880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2112264"/>
            <a:ext cx="1554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112264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Buyer non-lifting right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75104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Cancellation Right (5.6): no fee, any cargo, notice by Cancellation Deadline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2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(5.7): whole months, 2-month notice, min. 1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(5.7): same template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0568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(5.7): same template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9056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None (SO1 gives Seller the cancellation options)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4" y="2112264"/>
            <a:ext cx="685800" cy="78638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8" y="2112264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2898648"/>
            <a:ext cx="1554480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898648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Cost of not lifting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75104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9968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MSC continues in full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93592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Fee = Xy x sum of SCQ in the suspended 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66944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Fee = Xy x sum of SCQ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0568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2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Suspension Fee = Xy x sum of SCQ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49056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n/a for Buyer; Seller pays fee if it cancels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4" y="2898648"/>
            <a:ext cx="685800" cy="78638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8" y="2898648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3685032"/>
            <a:ext cx="1554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685032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Fixed leg under seller failure (DoP)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75104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DoP priced off CSP minus UFC; MSC still payable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3592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48456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Cargo DoP priced off CSP (Xy inside)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6944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Cargo DoP priced off CSP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0568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2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Cargo DoP priced off CSP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49056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Underdelivery Amount = NQ x max(HH cover diff, US$1.00)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7544" y="3685032"/>
            <a:ext cx="685800" cy="78638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22408" y="3685032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" y="4471416"/>
            <a:ext cx="1554480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471416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Fixed leg under FM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75104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8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MSC reduced prospectively in proportion to FM quantities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93592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48456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6944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30568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85432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49056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03920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67544" y="4471416"/>
            <a:ext cx="685800" cy="78638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2408" y="4471416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" y="5422392"/>
            <a:ext cx="10607040" cy="65836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54223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Do not value suspension as free volume flexibility: the Suspension Fee is exactly the fixed leg on the suspended quantities, so suspension monetises only the commodity leg. Economically it matches the BG cancellation + surviving MSC.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Term and extension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 four SPAs share the 20-year + up-to-10-year extension skeleton; the BG A&amp;R adds per-train tranche cancellation; the GdF master is open-ended.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554480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5104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BG-GC A&amp;R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3592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Centrica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GNF (CC)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Woodside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6" y="1325880"/>
            <a:ext cx="1618488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325880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GdF (DES)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67544" y="1325880"/>
            <a:ext cx="685800" cy="78638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1325880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2112264"/>
            <a:ext cx="1554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112264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Base term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75104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20 years from Train 1 DFCD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2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0568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9056" y="2112264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112264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Through the GDF Transatlantic Option Agreement period, then evergreen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4" y="2112264"/>
            <a:ext cx="685800" cy="78638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8" y="2112264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2898648"/>
            <a:ext cx="1554480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898648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Extension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75104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9968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Up to 10 years, any portion of ACQ; per-tranche reductions allowed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93592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Up to 10 years, any portion of ACQ; notice by 17th anniversary of DFCD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66944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Same as Centrica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0568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2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Same as Centrica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49056" y="2898648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898648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30-day notice termination after the primary term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4" y="2898648"/>
            <a:ext cx="685800" cy="78638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8" y="2898648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3685032"/>
            <a:ext cx="1554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685032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Extension-period price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75104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UFC Base 1.9125 up to 182.5m MMBtu; blended to 2.6625 above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3592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48456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6944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0568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2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49056" y="3685032"/>
            <a:ext cx="16184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3685032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7544" y="3685032"/>
            <a:ext cx="685800" cy="78638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22408" y="3685032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" y="4471416"/>
            <a:ext cx="1554480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471416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Project-linkage optionality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75104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9968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Trains 2-4: FID/DFCD-linked tranche cancellation rights (4.6), either party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93592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48456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Single-train linkage; DFCD windows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6944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Single-train linkage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30568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85432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Single-train linkage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49056" y="4471416"/>
            <a:ext cx="1618488" cy="78638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03920" y="4471416"/>
            <a:ext cx="1508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Calibri"/>
              </a:rPr>
              <a:t>SO1 lot 1: mutual cancellation right to 29 Feb 2008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67544" y="4471416"/>
            <a:ext cx="685800" cy="78638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2408" y="4471416"/>
            <a:ext cx="5760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" y="5422392"/>
            <a:ext cx="10607040" cy="65836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54223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The BG A&amp;R embeds a strip of train-by-train real options on both sides: each incremental tranche (36.5m / 34.0m / 33.5m MMBtu) can fall away if the corresponding FID or DFCD fails, with UFC Base and MACQ stepping accordingly.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Volume, shape and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Maintenance moves from percentage caps at Sabine Pass to the 7.5% / 25%-in-6-years form at Corpus Christi (the form Driftwood later uses).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463040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664" y="1325880"/>
            <a:ext cx="163677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32588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BG-GC A&amp;R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325880"/>
            <a:ext cx="163677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3" y="132588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Centrica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7216" y="1325880"/>
            <a:ext cx="163677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132588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GNF (CC)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3992" y="1325880"/>
            <a:ext cx="163677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5" y="132588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Woodside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1325880"/>
            <a:ext cx="163677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32588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GdF (DES)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67543" y="1325880"/>
            <a:ext cx="685800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7" y="132588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2148840"/>
            <a:ext cx="1463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148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Annual quantity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83664" y="214884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214884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ACQ = sum of train tranches; 286.5m MMBtu at full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214884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3" y="214884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91.25m MMBtu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214884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214884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78.215m MMBtu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92" y="214884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5" y="214884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44.12m MMBtu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0767" y="214884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214884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Per Specific Order (SO1: 7 x 2.6-3.5m MMBtu)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3" y="2148840"/>
            <a:ext cx="685800" cy="822960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7" y="214884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2971800"/>
            <a:ext cx="146304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97180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Delivery shape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3664" y="297180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8528" y="297180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Even and ratable ADP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39" y="297180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5303" y="297180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Even and ratable ADP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297180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9" y="297180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Even and ratable ADP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3992" y="297180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5" y="297180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Even and ratable ADP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7" y="297180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297180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SO1: one cargo per month, Apr-Oct 2008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3" y="2971800"/>
            <a:ext cx="685800" cy="82296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7" y="297180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3794760"/>
            <a:ext cx="1463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7947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Major maintenance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83664" y="379476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8528" y="379476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6%/yr of then-applicable ACQ; cumulative caps step 54.75m to 83.25m MMBtu by train stage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39" y="379476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75303" y="379476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6%/yr; 30% of ACQ over the initial Term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57216" y="379476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79" y="379476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7.5%/yr; 25% over any 6 consecutive Contract Years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3992" y="379476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5" y="379476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7.5%/yr; 25% over any 6 consecutive Contract Years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0767" y="3794760"/>
            <a:ext cx="16367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85632" y="379476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7543" y="379476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22407" y="379476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" y="4617720"/>
            <a:ext cx="146304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6177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Inspection allowance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83664" y="461772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38528" y="461772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Per-train absolute caps: 15.15m / 4.56m / 2.83m / 5.58m MMBtu in defined windows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39" y="461772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75303" y="461772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8.3%/yr; 17% of ACQ over the initial Term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57216" y="461772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79" y="461772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None separate from major maintenance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93992" y="461772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48855" y="461772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None separate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0767" y="4617720"/>
            <a:ext cx="163677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85632" y="4617720"/>
            <a:ext cx="1527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67543" y="461772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2407" y="461772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" y="5577840"/>
            <a:ext cx="10607040" cy="56692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557784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Centrica's 17% cumulative inspection cap matches Total (2012), not the 16.6% in the 2011 BG/GNF SPAs. The Corpus Christi 7.5% / 25%-in-6-years form reappears in the 2021 Driftwood SPAs.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Damages, liability caps and credit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Caps are stated in full; pre-5th-anniversary caps compute to ~US$3.29 per MMBtu of ACQ in all four SPAs (computed ratio, not contract text).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691640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5819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264" y="1325880"/>
            <a:ext cx="159105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32588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BG-GC A&amp;R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325880"/>
            <a:ext cx="159105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3" y="132588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Centrica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4375" y="1325880"/>
            <a:ext cx="159105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39" y="132588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GNF (CC)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5431" y="1325880"/>
            <a:ext cx="159105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0295" y="132588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Woodside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488" y="1325880"/>
            <a:ext cx="1591055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32588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GdF (DES)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67544" y="1325880"/>
            <a:ext cx="685800" cy="8229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132588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2148840"/>
            <a:ext cx="1691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148840"/>
            <a:ext cx="15819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Seller liability cap (pre-5th anniv.)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2264" y="214884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214884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600m / 720m / 832m / 942m by Train FID stage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214884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58183" y="214884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300m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4375" y="214884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39" y="214884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257.145m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85431" y="214884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5" y="214884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145.052m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8" y="214884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214884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4" y="214884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8" y="214884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2971800"/>
            <a:ext cx="169164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971800"/>
            <a:ext cx="15819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Seller liability cap (after)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12264" y="297180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67128" y="297180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 x ACQ figure in MMBtu (e.g. 573m at full build)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297180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58183" y="297180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400m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94375" y="297180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39" y="297180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342.86m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5431" y="297180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0295" y="297180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USD 193.402m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8" y="297180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1352" y="297180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Not extracted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4" y="297180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8" y="297180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3794760"/>
            <a:ext cx="1691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794760"/>
            <a:ext cx="15819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Cover damages (buyer failure)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12264" y="379476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67128" y="379476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CSP-based; cancelled-late quantities become Cargo Shortfall; MSC unaffected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03320" y="379476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58183" y="379476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Cover Damages, CSP-based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94375" y="379476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49239" y="379476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Same template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85431" y="379476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0295" y="379476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Same template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6488" y="3794760"/>
            <a:ext cx="15910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31352" y="379476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n/a in same form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7544" y="379476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22408" y="379476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" y="4617720"/>
            <a:ext cx="169164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617720"/>
            <a:ext cx="15819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Buyer credit support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12264" y="461772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67128" y="461772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Buyer-specific mechanics; not extracted in detail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03320" y="461772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58183" y="461772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Parent guaranty (Exhibit C) on merger/asset sale; Centrica plc itself is Buyer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94375" y="461772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9239" y="461772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15.3 credit support clause; details not extracted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85431" y="461772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0295" y="461772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15.3 credit support clause; details not extracted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6488" y="4617720"/>
            <a:ext cx="1591055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31352" y="4617720"/>
            <a:ext cx="14813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Assignment to banks &gt;= US$1bn assets allowed for financing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67544" y="4617720"/>
            <a:ext cx="685800" cy="82296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2408" y="4617720"/>
            <a:ext cx="5760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" y="5577840"/>
            <a:ext cx="10607040" cy="65836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55778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Computed ratios: 300/91.25 = 257.145/78.215 = 145.052/44.12 = 3.2877 USD/MMBtu; post-anniversary caps = 4.3836 USD/MMBtu for the 2013-14 family but 2.00 USD/MMBtu in the BG A&amp;R. The cap schedule is formulaic across the portfolio.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GdF master: DES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 only DES contract in the collection; freight, laytime and demurrage sit with the seller side, reversing the FOB allocation of the SPAs.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2377440" cy="47548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29844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1298448"/>
            <a:ext cx="7982711" cy="47548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As filed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7393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77393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1773936"/>
            <a:ext cx="79827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773936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Master framework + Specific Orders; either party may be buyer or seller per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249424"/>
            <a:ext cx="237744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494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Title and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2249424"/>
            <a:ext cx="7982711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249424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Pass at the Delivery Point on unloading (DES); vapour return passes buyer to seller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724912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724912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SO1 trade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2724912"/>
            <a:ext cx="79827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724912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GDF International Trading sells 7 cargoes to Cheniere Marketing, DES Sabine Pass Terminal, Apr-Oct 2008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00400"/>
            <a:ext cx="237744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3200400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Laytime / demurrage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808" y="3200400"/>
            <a:ext cx="7982711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200400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36 hours up to 145,000 m3 (formula above); demurrage US$100,000 per 24h, prorated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675887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675887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Payment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808" y="3675887"/>
            <a:ext cx="79827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675887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20 Business Days from invoice; disputed invoices paid 100% provisionally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151375"/>
            <a:ext cx="237744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151375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Late payment interest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5808" y="4151375"/>
            <a:ext cx="7982711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4151375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2% over Euribor (EUR) or Libor (USD), 365-day year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26863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26863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Nominations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35808" y="4626863"/>
            <a:ext cx="79827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626863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Seller nominates quantity, ship, heel, loading port and arrival day by the 1st of the prior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02351"/>
            <a:ext cx="237744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5102351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Governing law (letter agt.)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35808" y="5102351"/>
            <a:ext cx="7982711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5102351"/>
            <a:ext cx="78364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E293B"/>
                </a:solidFill>
                <a:latin typeface="Calibri"/>
              </a:rPr>
              <a:t>England and Wales; expert determination via ICC International Centre for Expertise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5714999"/>
            <a:ext cx="10607040" cy="65836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714999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Same physical terminal as the SPL SPAs, reversed flow: a 2007 import trade priced below HH (94% x HH - 0.65) versus post-2011 export trades priced above HH (1.15 x HH + fixed leg). Useful as a pre-shale-reversal benchmark.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First-pass RAG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High-confidence differences concentrate in price architecture, non-lifting mechanics, train linkage and delivery basis.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46304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664" y="1325880"/>
            <a:ext cx="1636775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3258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BG-GC A&amp;R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325880"/>
            <a:ext cx="1636775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3" y="13258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Centrica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7216" y="1325880"/>
            <a:ext cx="1636775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13258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GNF (CC)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3992" y="1325880"/>
            <a:ext cx="1636775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5" y="13258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Woodside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1325880"/>
            <a:ext cx="1636775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3258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GdF (DES)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67543" y="1325880"/>
            <a:ext cx="68580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7" y="132588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1874519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1874519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Signature 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83664" y="187451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187451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25 Jan 2012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187451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3" y="187451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22 Mar 2013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187451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187451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 Jun 2014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92" y="187451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5" y="187451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30 Jun 2014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0767" y="187451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187451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26 Apr 2007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3" y="1874519"/>
            <a:ext cx="685800" cy="548640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7" y="1874519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2423160"/>
            <a:ext cx="14630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42316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Commodity index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3664" y="242316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8528" y="242316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39" y="242316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5303" y="242316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242316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9" y="242316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3992" y="242316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5" y="242316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7" y="242316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242316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(NYMEX prompt)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3" y="2423160"/>
            <a:ext cx="68580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7" y="242316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29718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297180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Price architecture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83664" y="297180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8528" y="297180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UFC/MSC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39" y="297180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75303" y="297180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embedded Xy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57216" y="297180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79" y="297180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embedded Xy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3992" y="297180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5" y="297180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embedded Xy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0767" y="297180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85632" y="297180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Flat per-order (94% HH - 0.65)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7543" y="2971800"/>
            <a:ext cx="68580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22407" y="297180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" y="3520440"/>
            <a:ext cx="14630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352044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Fixed-leg constant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83664" y="352044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38528" y="352044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UFC Base 1.9125-2.1848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39" y="352044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75303" y="352044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X0 = 3.00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57216" y="352044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79" y="352044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X0 = 3.50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93992" y="352044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48855" y="352044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X0 = 3.50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0767" y="352044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85632" y="352044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67543" y="3520440"/>
            <a:ext cx="68580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2407" y="352044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" y="406908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" y="406908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CPI escalation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83664" y="406908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38528" y="40690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Additive 0.3375 term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20439" y="406908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75303" y="40690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11.5% weight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57216" y="406908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79" y="40690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14% weight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93992" y="406908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48855" y="40690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11.5% weight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30767" y="4069080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85632" y="406908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67543" y="4069080"/>
            <a:ext cx="68580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22407" y="406908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" y="4617720"/>
            <a:ext cx="14630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61772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Non-lifting mechanics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883664" y="461772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38528" y="461772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Cancellation + MSC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20439" y="461772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75303" y="461772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Suspension fee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57216" y="461772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12079" y="461772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Suspension fee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93992" y="461772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48855" y="461772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Suspension fee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30767" y="4617720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85632" y="4617720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Seller cancellation fees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67543" y="4617720"/>
            <a:ext cx="68580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22407" y="4617720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" y="5166359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5488" y="5166359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Delivery basis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83664" y="516635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38528" y="516635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FOB Sabine Pass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20439" y="516635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75303" y="516635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FOB Sabine Pass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57216" y="516635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212079" y="516635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FOB Corpus Christi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93992" y="516635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48855" y="516635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FOB Corpus Christi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30767" y="5166359"/>
            <a:ext cx="163677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85632" y="516635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DES Sabine Pass (SO1)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067543" y="5166359"/>
            <a:ext cx="68580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22407" y="5166359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" y="5714999"/>
            <a:ext cx="14630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5488" y="5714999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Maintenance form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83664" y="5714999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38528" y="571499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6% + train caps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520439" y="5714999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75303" y="571499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6%/30%; 8.3%/17%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57216" y="5714999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212079" y="571499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7.5%/25% in 6y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793992" y="5714999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48855" y="571499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7.5%/25% in 6y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30767" y="5714999"/>
            <a:ext cx="1636775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485632" y="5714999"/>
            <a:ext cx="1527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067543" y="5714999"/>
            <a:ext cx="68580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122407" y="5714999"/>
            <a:ext cx="576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Recommended valuation object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Separate cargo economics from capacity economics before computing value, hedge and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B5F8E"/>
                </a:solidFill>
                <a:latin typeface="Calibri"/>
              </a:rPr>
              <a:t>1. Variable commodity leg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1.15 x HH x loaded MMBtu in the four SPAs; 0.94 x HH - 0.65 in GdF SO1 (buy side).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6B00"/>
                </a:solidFill>
                <a:latin typeface="Calibri"/>
              </a:rPr>
              <a:t>2. Fixed liquefaction leg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UFC/MSC with train-stepped Base (BG A&amp;R) or CPI-escalated Xy (3.00 / 3.50 base). None in GdF.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261E"/>
                </a:solidFill>
                <a:latin typeface="Calibri"/>
              </a:rPr>
              <a:t>3. Non-lifting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00784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MSC survival; Suspension Fee = Xy x SCQ; per-train tranche cancellation; GdF seller cancellation fees.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880360"/>
            <a:ext cx="10607040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8036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Inputs to store per contract: train tranches and DFCD triggers; ACQ; UFC Base schedule or X0 and CPI weight; CPI0 anchor; suspension fee formula; cancellation deadlines and fees; DoP reference price (CSP vs CSP minus UFC); liability cap schedule; delivery basis (FOB/DES).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023360"/>
            <a:ext cx="10607040" cy="7772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Output metrics: margin by leg; fixed-leg recovery under non-lifting scenarios; hedge exposure to HH and CPI; train-linkage option values (BG A&amp;R); cap-constrained DoP exposure; credit-adjusted PV.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Caveats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This is an economic comparison; it is not a legal blackline.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follow-on &amp; GdF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37160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GdF master openness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37160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Only Specific Order No. 1 is visible; other orders may differ in price, quantity and direction.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28216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7099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Centrica CPI0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7099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Anchored to the year the third SPL train becomes capable; value of Xy is unresolved until that year is fixed.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66544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6654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204825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BG A&amp;R MACQ / tranche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048256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MSC quantity Q = MACQ - MQ steps with train DFCDs and tranche cancellations; model clause-by-clause.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404872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048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2386584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Extension-period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386584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Visible only in the BG A&amp;R (Base blend to 2.6625); not extracted for the 2013-14 family.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743200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432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27249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FM effect on fixed leg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724912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Extracted only for the BG A&amp;R (MSC reduced prospectively); check 14.x in the other three SPAs.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081528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08152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30632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Credit support thresholds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06324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Parent-guaranty forms identified; ratings triggers and LC mechanics not extracted.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3977639"/>
            <a:ext cx="106070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977639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Main structural addition to the master comparison: record the invoicing route of the fixed leg (separate MSC vs embedded Xy vs suspension fee) before valuing non-lifting.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