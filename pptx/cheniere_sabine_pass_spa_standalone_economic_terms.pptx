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3333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749808"/>
            <a:ext cx="649224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100" b="1">
                <a:solidFill>
                  <a:srgbClr val="17324D"/>
                </a:solidFill>
                <a:latin typeface="Aptos Display"/>
              </a:rPr>
              <a:t>Cheniere Sabine Pass LNG SPAs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417320"/>
            <a:ext cx="72237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475569"/>
                </a:solidFill>
                <a:latin typeface="Calibri"/>
              </a:rPr>
              <a:t>Standalone economic-term comparison and valuation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938528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BG  •  Gas Natural Fenosa  •  GAIL  •  Total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852928"/>
            <a:ext cx="1188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B5F8E"/>
                </a:solidFill>
                <a:latin typeface="Calibri"/>
              </a:rPr>
              <a:t>Purpose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72968"/>
            <a:ext cx="55778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20" b="0">
                <a:solidFill>
                  <a:srgbClr val="1E293B"/>
                </a:solidFill>
                <a:latin typeface="Calibri"/>
              </a:rPr>
              <a:t>Identify how fixed liquefaction economics are recovered — separate Unit Fixed Charge / Monthly Sales Charge, or embedded Xy inside CSP — and whether those charges survive cancellation, suspension or non-lifting. This is an economic comparison, not a legal blackline.</a:t>
            </a:r>
          </a:p>
        </p:txBody>
      </p:sp>
      <p:sp>
        <p:nvSpPr>
          <p:cNvPr id="8" name="Shape 6"/>
          <p:cNvSpPr/>
          <p:nvPr/>
        </p:nvSpPr>
        <p:spPr>
          <a:xfrm rot="1080000">
            <a:off x="8275320" y="658368"/>
            <a:ext cx="2971800" cy="2971800"/>
          </a:xfrm>
          <a:prstGeom prst="arc">
            <a:avLst/>
          </a:prstGeom>
          <a:noFill/>
          <a:ln w="25400">
            <a:solidFill>
              <a:srgbClr val="2B5F8E">
                <a:alpha val="9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4200000">
            <a:off x="8887968" y="1261872"/>
            <a:ext cx="1920240" cy="1920240"/>
          </a:xfrm>
          <a:prstGeom prst="arc">
            <a:avLst/>
          </a:prstGeom>
          <a:noFill/>
          <a:ln w="25400">
            <a:solidFill>
              <a:srgbClr val="B36B00">
                <a:alpha val="9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8700000">
            <a:off x="9418320" y="1691640"/>
            <a:ext cx="1143000" cy="1143000"/>
          </a:xfrm>
          <a:prstGeom prst="arc">
            <a:avLst/>
          </a:prstGeom>
          <a:noFill/>
          <a:ln w="25400">
            <a:solidFill>
              <a:srgbClr val="B3261E">
                <a:alpha val="88000"/>
              </a:srgbClr>
            </a:solidFill>
            <a:prstDash val="solid"/>
          </a:ln>
        </p:spPr>
      </p:sp>
      <p:sp>
        <p:nvSpPr>
          <p:cNvPr id="11" name="TextBox 10"/>
          <p:cNvSpPr txBox="1"/>
          <p:nvPr/>
        </p:nvSpPr>
        <p:spPr>
          <a:xfrm>
            <a:off x="7680960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2B5F8E"/>
                </a:solidFill>
                <a:latin typeface="Calibri"/>
              </a:rPr>
              <a:t>Visible terms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79408" y="4937760"/>
            <a:ext cx="1508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36B00"/>
                </a:solidFill>
                <a:latin typeface="Calibri"/>
              </a:rPr>
              <a:t>Redactions / unknowns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61320" y="4937760"/>
            <a:ext cx="1188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B3261E"/>
                </a:solidFill>
                <a:latin typeface="Calibri"/>
              </a:rPr>
              <a:t>Modelling impact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Executive read-across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 contracts use a common Cheniere Sabine Pass SPA skeleton but differ sharply in how fixed liquefaction economics are recovered.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2588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E7D32"/>
                </a:solidFill>
                <a:latin typeface="Calibri"/>
              </a:rPr>
              <a:t>Fact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5506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All four contracts are FOB LNG SPAs from the Sabine Pass Facility with Henry Hub-linked commodity pricing (CSP = 1.15 × HH), common 20-year base term and broadly common delivery, title/risk and credit-support architecture.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2588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B5F8E"/>
                </a:solidFill>
                <a:latin typeface="Calibri"/>
              </a:rPr>
              <a:t>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5506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Model a dedicated price-architecture and capacity-payment section: the fixed/liquefaction component is recovered differently — separate UFC/MSC (BG, GNF) versus an Xy component embedded in CSP (GAIL, Total).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2588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6B00"/>
                </a:solidFill>
                <a:latin typeface="Calibri"/>
              </a:rPr>
              <a:t>Unknown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655064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CPI baselines and escalation weights are visible, but buyer-specific credit thresholds, LC mechanics and full DoP/cover-damages formulas need clause-by-clause review before they are treated as equivalent.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246120"/>
            <a:ext cx="1097280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32461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0" y="3246120"/>
            <a:ext cx="1965960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901952" y="32461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Commercial meaning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94760" y="3246120"/>
            <a:ext cx="7498079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67912" y="32461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Key items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703320"/>
            <a:ext cx="1097280" cy="45720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37033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0" y="37033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901952" y="37033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No material difference detected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794760" y="3703320"/>
            <a:ext cx="749807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67912" y="37033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B2A3A"/>
                </a:solidFill>
                <a:latin typeface="Calibri"/>
              </a:rPr>
              <a:t>Base HH-linked commodity index, FOB delivery, title/risk, buyer shipping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60520"/>
            <a:ext cx="1097280" cy="45720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1605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0" y="4160520"/>
            <a:ext cx="196596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901952" y="41605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Visible economic difference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794760" y="4160520"/>
            <a:ext cx="7498079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41605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B2A3A"/>
                </a:solidFill>
                <a:latin typeface="Calibri"/>
              </a:rPr>
              <a:t>Price architecture (UFC/MSC vs embedded Xy), CPI escalation weight, cancellation/suspension mechanics, delivery shape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4617720"/>
            <a:ext cx="1097280" cy="45720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617720"/>
            <a:ext cx="950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828800" y="4617720"/>
            <a:ext cx="19659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01952" y="4617720"/>
            <a:ext cx="181965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0">
                <a:solidFill>
                  <a:srgbClr val="1E293B"/>
                </a:solidFill>
                <a:latin typeface="Calibri"/>
              </a:rPr>
              <a:t>Framework similar, but caveats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794760" y="4617720"/>
            <a:ext cx="7498079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67912" y="4617720"/>
            <a:ext cx="7351775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1B2A3A"/>
                </a:solidFill>
                <a:latin typeface="Calibri"/>
              </a:rPr>
              <a:t>Extension conditions, credit support, maintenance/inspection caps, off-spec remedies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Contract universe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ACQ is shown but not RAG-scored; size is buyer-specific commercial volume, not a drafting difference.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737360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7984" y="1325880"/>
            <a:ext cx="1977389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1325880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Seller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35373" y="1325880"/>
            <a:ext cx="1977389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90237" y="1325880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Buyer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2763" y="1325880"/>
            <a:ext cx="1977389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67627" y="1325880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Signature / effective 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0153" y="1325880"/>
            <a:ext cx="1977389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45017" y="1325880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Visible ACQ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3" y="1325880"/>
            <a:ext cx="822960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7" y="1325880"/>
            <a:ext cx="713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837943"/>
            <a:ext cx="1737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37943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BG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57984" y="1837943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212848" y="1837943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Sabine Pass Liquefaction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35373" y="1837943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90237" y="1837943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BG Gulf Coast LNG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2763" y="1837943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7627" y="1837943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25 Oct 2011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90153" y="1837943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45017" y="1837943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182.5m MMBtu/yr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3" y="1837943"/>
            <a:ext cx="822960" cy="512064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7" y="1837943"/>
            <a:ext cx="713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350008"/>
            <a:ext cx="17373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350008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Gas Natural Fenosa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57984" y="2350008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12848" y="2350008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Sabine Pass Liquefaction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35373" y="2350008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90237" y="2350008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Gas Natural Aprovisionamientos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12763" y="2350008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7627" y="2350008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21 Nov 2011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90153" y="2350008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45017" y="2350008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182.5m MMBtu/yr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3" y="2350008"/>
            <a:ext cx="822960" cy="512064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7" y="2350008"/>
            <a:ext cx="713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2862072"/>
            <a:ext cx="1737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2862072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GAIL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157984" y="2862072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212848" y="2862072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Sabine Pass Liquefaction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35373" y="2862072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90237" y="2862072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GAIL (India) Limited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12763" y="2862072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67627" y="2862072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11 Dec 2011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90153" y="2862072"/>
            <a:ext cx="1977389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45017" y="2862072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182.5m MMBtu/yr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3" y="2862072"/>
            <a:ext cx="822960" cy="512064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7" y="2862072"/>
            <a:ext cx="713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374136"/>
            <a:ext cx="17373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374136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Total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57984" y="3374136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212848" y="3374136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Sabine Pass Liquefaction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135373" y="3374136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90237" y="3374136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Total Gas &amp; Power North America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112763" y="3374136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167627" y="3374136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14 Dec 2012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90153" y="3374136"/>
            <a:ext cx="1977389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45017" y="3374136"/>
            <a:ext cx="186766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E293B"/>
                </a:solidFill>
                <a:latin typeface="Calibri"/>
              </a:rPr>
              <a:t>104.75m MMBtu/yr = 91.25m AT + 13.5m ST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3" y="3374136"/>
            <a:ext cx="822960" cy="512064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7" y="3374136"/>
            <a:ext cx="71323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" y="4114800"/>
            <a:ext cx="10607040" cy="56692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" y="411480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Observation: Total is structurally different because ACQ is the sum of an Annual Tranche and a Seasonal Tranche. The Seasonal Tranche is 13.5m MMBtu, approximately 12.9% of Total ACQ.  AT = Annual Tranche.  ST = Seasonal Tranche.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Price architecture and capacity-payment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Cheniere-specific fields required to analyse how each agreement separates or embeds liquefaction economics.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4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1298448"/>
            <a:ext cx="2240280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12984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Driver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898648" y="1298448"/>
            <a:ext cx="8119871" cy="45720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71800" y="12984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Why it is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1755648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19" y="17556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Price architecture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98648" y="1755648"/>
            <a:ext cx="8119871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71800" y="17556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Distinguishes CSP-only from CSP + UFC + Monthly Sales Charge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" y="2212848"/>
            <a:ext cx="224028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19" y="22128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Unit Fixed Charge / UFC formula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98648" y="2212848"/>
            <a:ext cx="8119871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71800" y="22128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BG and Gas Natural have a separate CPI-linked fixed component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670048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19" y="26700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Monthly Sales Charge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898648" y="2670048"/>
            <a:ext cx="8119871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71800" y="26700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Capacity reservation charge payable monthly, not cargo-by-cargo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3127248"/>
            <a:ext cx="224028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19" y="31272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X0 / Xy fixed component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98648" y="3127248"/>
            <a:ext cx="8119871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71800" y="31272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GAIL and Total embed the fixed component in CSP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58368" y="3584448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19" y="35844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CPI escalation weight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98648" y="3584448"/>
            <a:ext cx="8119871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971800" y="35844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GAIL uses 15%; Total uses 11.5%; BG/GNF use the UFC formula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58368" y="4041648"/>
            <a:ext cx="224028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31519" y="40416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Charge survives cancellation / suspension?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898648" y="4041648"/>
            <a:ext cx="8119871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71800" y="40416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Core economic distinction for cancelled or suspended cargoes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" y="4498848"/>
            <a:ext cx="224028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19" y="44988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Early / bridging / seasonal volumes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98648" y="4498848"/>
            <a:ext cx="8119871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971800" y="44988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BG has Early Cargoes; GAIL has Bridging Volumes; Total has a seasonal tranche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8368" y="4956048"/>
            <a:ext cx="2240280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19" y="4956048"/>
            <a:ext cx="209397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Damages reference price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898648" y="4956048"/>
            <a:ext cx="8119871" cy="45720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971800" y="4956048"/>
            <a:ext cx="7973567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60" b="0">
                <a:solidFill>
                  <a:srgbClr val="1E293B"/>
                </a:solidFill>
                <a:latin typeface="Calibri"/>
              </a:rPr>
              <a:t>BG/GNF refer to CSP minus UFC; GAIL/Total use CSP-based mechanics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76656" y="5577840"/>
            <a:ext cx="10607040" cy="56692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86384" y="5577840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Retain standard SPA fields for CPs, term, delivery point, title/risk, ADP, quality, FM, credit and taxes. Add the fields above before comparing Cheniere agreements or other US liquefaction-style LNG SPAs.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Visible price formulas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All four use 1.15 × HH, but the fixed/liquefaction component is recovered differently.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5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737360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Contract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157984" y="1325880"/>
            <a:ext cx="4114800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12848" y="1325880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Visible formula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72783" y="1325880"/>
            <a:ext cx="4114800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7" y="1325880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Fixed / capacity component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87584" y="1325880"/>
            <a:ext cx="777240" cy="512064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442448" y="1325880"/>
            <a:ext cx="6675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" y="1837943"/>
            <a:ext cx="1737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" y="1837943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BG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57984" y="1837943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12848" y="1837943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CSP = 1.15 × HH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3" y="1837943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7" y="1837943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UFCy = 1.9125 + (0.3375 × CPIy / CPI0); MSC = UFC × Q /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387584" y="1837943"/>
            <a:ext cx="77724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442448" y="1837943"/>
            <a:ext cx="6675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624" y="2350008"/>
            <a:ext cx="17373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" y="2350008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Gas Natural Fenosa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57984" y="2350008"/>
            <a:ext cx="411480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2350008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CSP = 1.15 × HH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72783" y="2350008"/>
            <a:ext cx="411480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7" y="2350008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UFCy = 2.1525 + (0.3375 × CPIy / CPI0); MSC = UFC × Q / 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387584" y="2350008"/>
            <a:ext cx="77724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442448" y="2350008"/>
            <a:ext cx="6675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862072"/>
            <a:ext cx="173736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862072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GAIL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157984" y="2862072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12848" y="2862072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CSP = (1.15 × HH) + Xy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72783" y="2862072"/>
            <a:ext cx="411480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27647" y="2862072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Xy = (0.85 + 0.15 × CPI(y-1) / CPI0) × X0; X0 = US$3.00/MMBtu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387584" y="2862072"/>
            <a:ext cx="77724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442448" y="2862072"/>
            <a:ext cx="6675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0624" y="3374136"/>
            <a:ext cx="173736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5488" y="3374136"/>
            <a:ext cx="162763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Total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57984" y="3374136"/>
            <a:ext cx="411480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12848" y="3374136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CSP = (1.15 × HH) + Xy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72783" y="3374136"/>
            <a:ext cx="4114800" cy="512064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27647" y="3374136"/>
            <a:ext cx="40050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0">
                <a:solidFill>
                  <a:srgbClr val="1E293B"/>
                </a:solidFill>
                <a:latin typeface="Calibri"/>
              </a:rPr>
              <a:t>Xy = (0.885 + 0.115 × CPI(y-1) / CPI0) × X0; X0 = US$3.00/MMBtu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387584" y="3374136"/>
            <a:ext cx="777240" cy="512064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442448" y="3374136"/>
            <a:ext cx="6675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3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76656" y="4114800"/>
            <a:ext cx="10607040" cy="6858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11480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RAG is RED because formula architecture differs, not because each contract has a different HH multiplier. The HH multiplier is common at 1.15. For modelling: separate variable gas index exposure from fixed-capacity economics before calculating margin, cancellation value or DoP/cover damages.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Appendix A: base formula text as filed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Visible and redacted formula wording. CPI baseline constants remain redacted as [***] where applicable.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623560" cy="178308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216152"/>
            <a:ext cx="54041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BG unit fixed charge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1472184"/>
            <a:ext cx="54041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UFCy = 1.9125 + (0.3375 × CPIy / CPI0)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MSC = UFC × Q / 12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CSP = 1.15 × HH. The UFC is a separate, CPI-escalated capacity charge invoiced monthly against scheduled quantity.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143000"/>
            <a:ext cx="5394960" cy="1783080"/>
          </a:xfrm>
          <a:prstGeom prst="rect">
            <a:avLst/>
          </a:prstGeom>
          <a:solidFill>
            <a:srgbClr val="DBEAFE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216152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Gas Natural Fenosa unit fixed charge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1472184"/>
            <a:ext cx="51755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UFCy = 2.1525 + (0.3375 × CPIy / CPI0)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MSC = UFC × Q / 12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Same architecture as BG; base constant (2.1525) differs from BG's 1.9125.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46120"/>
            <a:ext cx="5623560" cy="178308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3319272"/>
            <a:ext cx="54041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GAIL embedded Xy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3575303"/>
            <a:ext cx="54041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CSP = (1.15 × HH) + Xy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Xy = (0.85 + 0.15 × CPI(y-1) / CPI0) × X0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X0 = US$3.00/MMBtu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The fixed component is embedded inside the cargo price itself, not invoiced separately.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3246120"/>
            <a:ext cx="5394960" cy="1783080"/>
          </a:xfrm>
          <a:prstGeom prst="rect">
            <a:avLst/>
          </a:prstGeom>
          <a:solidFill>
            <a:srgbClr val="FEE2E2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3319272"/>
            <a:ext cx="5175504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1E293B"/>
                </a:solidFill>
                <a:latin typeface="Calibri"/>
              </a:rPr>
              <a:t>Total embedded Xy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3575303"/>
            <a:ext cx="5175504" cy="1380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CSP = (1.15 × HH) + Xy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Xy = (0.885 + 0.115 × CPI(y-1) / CPI0) × X0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X0 = US$3.00/MMBtu</a:t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/>
            </a:r>
          </a:p>
          <a:p>
            <a:pPr algn="l"/>
            <a:r>
              <a:rPr sz="760" b="0">
                <a:solidFill>
                  <a:srgbClr val="334155"/>
                </a:solidFill>
                <a:latin typeface="Calibri"/>
              </a:rPr>
              <a:t>Same embedded-Xy architecture as GAIL; CPI weight differs (11.5% vs 15%).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6656" y="5257800"/>
            <a:ext cx="10607040" cy="64008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6384" y="5257800"/>
            <a:ext cx="104241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Fact: the HH multiplier (1.15) and X0 (US$3.00/MMBtu) are common. Unknown: whether CPI base-year conventions are identical across contracts — do not infer equality of embedded value from formula shape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Liquefaction-margin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This is the main economic distinction across the Cheniere agreements.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716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</a:rPr>
              <a:t>BG / Gas Natural Fenosa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371600"/>
            <a:ext cx="51206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7324D"/>
                </a:solidFill>
                <a:latin typeface="Calibri"/>
              </a:rPr>
              <a:t>GAIL / Total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783080"/>
            <a:ext cx="512064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Cargo price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CSP = 1.15 × HH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Capacity charge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UFC × Q / 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783080"/>
            <a:ext cx="5120640" cy="155448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7548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Cargo price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CSP = 1.15 × HH + Xy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Fixed component</a:t>
            </a:r>
          </a:p>
          <a:p>
            <a:pPr algn="l">
              <a:lnSpc>
                <a:spcPct val="130000"/>
              </a:lnSpc>
            </a:pPr>
            <a:r>
              <a:rPr sz="1200" b="0">
                <a:solidFill>
                  <a:srgbClr val="1E293B"/>
                </a:solidFill>
                <a:latin typeface="Calibri"/>
              </a:rPr>
              <a:t>inside CSP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3611880"/>
            <a:ext cx="10607040" cy="6858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3611880"/>
            <a:ext cx="104241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Economic consequence: BG/GNF capacity payments can continue irrespective of the cargo actually taken. GAIL/Total embed the fixed element in the cargo price, so cancellation/suspension mechanics must be read differently.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526280"/>
            <a:ext cx="10607040" cy="45720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Standalone section required: price architecture and capacity-payment mechanics.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Term and extension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Base term is broadly common; extension mechanics have drafting differences and approvals constraints.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55448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4447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5104" y="1325880"/>
            <a:ext cx="202311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1325880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8214" y="1325880"/>
            <a:ext cx="202311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3078" y="1325880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1324" y="1325880"/>
            <a:ext cx="202311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6188" y="1325880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4434" y="1325880"/>
            <a:ext cx="202311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9298" y="1325880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4" y="1325880"/>
            <a:ext cx="82296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1325880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984248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984248"/>
            <a:ext cx="14447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Base term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5104" y="1984248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8" y="1984248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98214" y="1984248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3078" y="1984248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21324" y="1984248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6188" y="1984248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4434" y="1984248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9298" y="1984248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20 years from DFCD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4" y="1984248"/>
            <a:ext cx="822960" cy="658368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198424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642615"/>
            <a:ext cx="155448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642615"/>
            <a:ext cx="14447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Extension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75104" y="2642615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8" y="2642615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Buyer may extend up to 10 years for any portion of ACQ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98214" y="2642615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3078" y="2642615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Similar maximum extension term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1324" y="2642615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6188" y="2642615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Buyer may extend up to 10 years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4434" y="2642615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9298" y="2642615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Buyer may extend up to 10 years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4" y="2642615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2642615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3300983"/>
            <a:ext cx="1554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3300983"/>
            <a:ext cx="14447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Extension condition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5104" y="3300983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29968" y="3300983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Minimum facility utilisation / approvals and export authorisations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8214" y="3300983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3078" y="3300983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21324" y="3300983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76188" y="3300983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Approvals; no same export-authorisation wording visible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4434" y="3300983"/>
            <a:ext cx="202311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9298" y="3300983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Approvals incl. LNG export licences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4" y="3300983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8" y="3300983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959351"/>
            <a:ext cx="155448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959351"/>
            <a:ext cx="144475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Delayed DFCD termination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75104" y="3959351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9968" y="3959351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Buyer right after delay; seller has corresponding mechanics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98214" y="3959351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3078" y="3959351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21324" y="3959351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76188" y="3959351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Similar, but first-window timing differs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4434" y="3959351"/>
            <a:ext cx="202311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9298" y="3959351"/>
            <a:ext cx="191338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0">
                <a:solidFill>
                  <a:srgbClr val="1E293B"/>
                </a:solidFill>
                <a:latin typeface="Calibri"/>
              </a:rPr>
              <a:t>Similar; 455-day FM deferral cap visible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4" y="3959351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8" y="3959351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Volume, shape and maintenance: percentage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ACQ itself is unscored; numerical caps are compared as percentage of ACQ where possible.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9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55448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1975104" y="1325880"/>
            <a:ext cx="20231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13258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998214" y="1325880"/>
            <a:ext cx="20231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53078" y="13258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21324" y="1325880"/>
            <a:ext cx="20231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76188" y="13258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4434" y="1325880"/>
            <a:ext cx="20231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9298" y="13258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4" y="1325880"/>
            <a:ext cx="82296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13258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874519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74519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ACQ size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75104" y="1874519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29968" y="1874519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182.5m MMBtu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98214" y="1874519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53078" y="1874519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182.5m MMBtu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21324" y="1874519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76188" y="1874519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182.5m MMBtu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4434" y="1874519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9298" y="1874519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104.75m MMBtu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4" y="1874519"/>
            <a:ext cx="822960" cy="548640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1874519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423160"/>
            <a:ext cx="15544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42316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Delivery shape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75104" y="242316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29968" y="242316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Even / ratable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998214" y="242316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53078" y="242316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Even / ratable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21324" y="242316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076188" y="242316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Even / ratable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4434" y="242316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99298" y="242316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Annual + Seasonal Tranche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4" y="2423160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242316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297180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297180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Seasonal share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75104" y="297180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29968" y="297180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98214" y="297180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53078" y="297180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021324" y="297180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076188" y="297180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n/a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044434" y="297180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99298" y="297180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13.5m / 104.75m = 12.9% of ACQ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4" y="2971800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8" y="297180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520440"/>
            <a:ext cx="15544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52044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Major maintenance cap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975104" y="352044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029968" y="352044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6% per year; 30% initial term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98214" y="352044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53078" y="352044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6% per year; 30% initial term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21324" y="352044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76188" y="352044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6% per year; 30% initial term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044434" y="3520440"/>
            <a:ext cx="20231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099298" y="352044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6% per year; 30% initial term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4" y="3520440"/>
            <a:ext cx="822960" cy="54864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8" y="352044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4069080"/>
            <a:ext cx="15544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4069080"/>
            <a:ext cx="14447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Inspection cap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75104" y="406908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29968" y="40690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8.3% per year; 16.6% initial term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998214" y="406908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053078" y="40690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8.3% per year; 16.6% initial term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021324" y="406908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076188" y="40690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8.3% per year; 16.6% initial term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044434" y="4069080"/>
            <a:ext cx="20231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099298" y="4069080"/>
            <a:ext cx="19133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8.3% of annual/seasonal base; 17% initial term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67544" y="406908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22408" y="40690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Cancellation, suspension and early-volume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These are economically central in Cheniere because fixed charges may survive non-lifting.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210312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9933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3744" y="1325880"/>
            <a:ext cx="188594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78608" y="1325880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09694" y="1325880"/>
            <a:ext cx="188594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64557" y="1325880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95644" y="1325880"/>
            <a:ext cx="188594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507" y="1325880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1594" y="1325880"/>
            <a:ext cx="188594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36458" y="1325880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4" y="1325880"/>
            <a:ext cx="82296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1325880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984248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984248"/>
            <a:ext cx="19933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Buyer cancellation / suspension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23744" y="1984248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78608" y="1984248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Cancellation right; Monthly Sales Charge continues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09694" y="1984248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64557" y="1984248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Cancellation right; Monthly Sales Charge continues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95644" y="1984248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0507" y="1984248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No equivalent seen in reviewed snippets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1594" y="1984248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36458" y="1984248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Suspension right with Suspension Fee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4" y="1984248"/>
            <a:ext cx="822960" cy="65836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198424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642615"/>
            <a:ext cx="210312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642615"/>
            <a:ext cx="19933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Early / bridging volumes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23744" y="2642615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78608" y="2642615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Early Cargoes; pre-commercial cargo pricing seen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09694" y="2642615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64557" y="2642615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No equivalent highlighted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95644" y="2642615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507" y="2642615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Bridging Volumes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81594" y="2642615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36458" y="2642615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Early First Window Period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4" y="2642615"/>
            <a:ext cx="822960" cy="65836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2642615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3300983"/>
            <a:ext cx="210312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3300983"/>
            <a:ext cx="19933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Capacity payment if cargo cancelled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523744" y="3300983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78608" y="3300983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Yes: MSC continues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09694" y="3300983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4557" y="3300983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Yes: MSC continues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95644" y="3300983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0507" y="3300983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n/a in same form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81594" y="3300983"/>
            <a:ext cx="188594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36458" y="3300983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Suspension fee mechanics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4" y="3300983"/>
            <a:ext cx="822960" cy="65836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8" y="3300983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959351"/>
            <a:ext cx="210312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959351"/>
            <a:ext cx="199339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FM affecting LNG tanker / discharge terminal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523744" y="3959351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78608" y="3959351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Express clause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09694" y="3959351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464557" y="3959351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Express clause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95644" y="3959351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50507" y="3959351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Express clause; terminal wording narrower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81594" y="3959351"/>
            <a:ext cx="188594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36458" y="3959351"/>
            <a:ext cx="177622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0">
                <a:solidFill>
                  <a:srgbClr val="1E293B"/>
                </a:solidFill>
                <a:latin typeface="Calibri"/>
              </a:rPr>
              <a:t>Express clause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4" y="3959351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8" y="3959351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8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" y="4754879"/>
            <a:ext cx="10607040" cy="566928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" y="4754879"/>
            <a:ext cx="1042416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Do not value cancellation as simply “no cargo, no price”. In BG/GNF, capacity reservation payments are a separate cashflow stream. For Total, suspension requires a separate Suspension Fee analysis rather than a shortfall-only treatment.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Damages and remedy fields to add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 relevant reference price differs where fixed charges are separated from CSP.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219456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Economic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615184" y="1325880"/>
            <a:ext cx="186308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0048" y="1325880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78273" y="1325880"/>
            <a:ext cx="186308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3137" y="1325880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41363" y="1325880"/>
            <a:ext cx="186308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6227" y="1325880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4453" y="1325880"/>
            <a:ext cx="1863089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59317" y="1325880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3" y="1325880"/>
            <a:ext cx="822960" cy="658368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7" y="1325880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984248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984248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Buyer shortfall / cover damages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15184" y="1984248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70048" y="1984248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CSP-based; cancellation interacts with MSC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78273" y="1984248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33137" y="1984248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Same broad architecture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41363" y="1984248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96227" y="1984248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CSP-based cover damages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04453" y="1984248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59317" y="1984248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CSP-based plus suspension / idling-cost wording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3" y="1984248"/>
            <a:ext cx="822960" cy="65836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7" y="1984248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642615"/>
            <a:ext cx="2194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642615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Seller DoP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15184" y="2642615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70048" y="2642615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Formula refers to CSP minus UFC for replacement comparison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478273" y="2642615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3137" y="2642615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Same broad concept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41363" y="2642615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96227" y="2642615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CSP/Cover Damages mechanics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204453" y="2642615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59317" y="2642615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CSP plus additional cost wording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3" y="2642615"/>
            <a:ext cx="822960" cy="65836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7" y="2642615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3300983"/>
            <a:ext cx="219456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3300983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Monthly / capacity charge in remedies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615184" y="3300983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670048" y="3300983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MSC continues / is separately invoiced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78273" y="3300983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533137" y="3300983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MSC continues / separately invoiced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41363" y="3300983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6227" y="3300983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Not separate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204453" y="3300983"/>
            <a:ext cx="1863089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59317" y="3300983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Suspension Fee separate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3" y="3300983"/>
            <a:ext cx="822960" cy="658368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7" y="3300983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959351"/>
            <a:ext cx="2194560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959351"/>
            <a:ext cx="208483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Off-spec LNG remedies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615184" y="3959351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670048" y="3959351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Similar SPA architecture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478273" y="3959351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533137" y="3959351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341363" y="3959351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96227" y="3959351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204453" y="3959351"/>
            <a:ext cx="1863089" cy="658368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59317" y="3959351"/>
            <a:ext cx="1753361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3" y="3959351"/>
            <a:ext cx="822960" cy="658368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7" y="3959351"/>
            <a:ext cx="713232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6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76656" y="4754879"/>
            <a:ext cx="10607040" cy="5486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86384" y="4754879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New rows to add to the master comparison: damages reference price; capacity-charge survival; seller DoP adjustment for UFC; suspension-fee calculation; invoice type for capacity charges.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Delivery and logistics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Core FOB structure is common across the four agreements, but some infrastructure-specific schedules and exhibits differ.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92024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0864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2533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7397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4203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9067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5873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0738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3" y="1325880"/>
            <a:ext cx="82296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7" y="13258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874519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74519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Delivery point / incoterm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864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5728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FOB Sabine Pass Facility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2533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7397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FOB Sabine Pass Facility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203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9067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FOB Sabine Pass Facility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5873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0738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FOB Sabine Pass Facility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3" y="1874519"/>
            <a:ext cx="822960" cy="54864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7" y="1874519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423160"/>
            <a:ext cx="19202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42316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Buyer shipping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40864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5728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Buyer provides tankers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2533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7397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Same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4203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9067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Same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5873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0738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Same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3" y="2423160"/>
            <a:ext cx="822960" cy="54864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7" y="242316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29718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29718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Destination flexibility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40864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95728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Buyer may market to any destination, subject to agreement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2533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7397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Same broad wording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04203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9067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Same broad wording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5873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0738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Same broad wording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3" y="2971800"/>
            <a:ext cx="822960" cy="54864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7" y="297180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520440"/>
            <a:ext cx="19202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52044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Alternate source delivery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40864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95728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Permitted with buyer consent and conditions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72533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7397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Similar; Gulf Coast affiliate carve-out visible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04203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9067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5873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0738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3" y="352044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7" y="352044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406908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406908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Infrastructure exhibits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40864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95728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Terminal/cooperation/tug/transport exhibits visible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2533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27397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Not same set highlighted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04203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9067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Not same set highlighted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5873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90738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0">
                <a:solidFill>
                  <a:srgbClr val="1E293B"/>
                </a:solidFill>
                <a:latin typeface="Calibri"/>
              </a:rPr>
              <a:t>Not same set highlighted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67543" y="406908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22407" y="40690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0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656" y="4754880"/>
            <a:ext cx="10607040" cy="4572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6384" y="47548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Keep standard logistics rows, and add a Cheniere-specific field for linked infrastructure exhibits where they affect rights, costs or facility access.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Credit, financing and bankability fields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These need full clause-by-clause checks before they are treated as equivalent.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13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201168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432304" y="1325880"/>
            <a:ext cx="19088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13258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1114" y="1325880"/>
            <a:ext cx="19088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95978" y="13258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9924" y="1325880"/>
            <a:ext cx="19088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4788" y="13258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8734" y="1325880"/>
            <a:ext cx="190881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3598" y="13258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4" y="1325880"/>
            <a:ext cx="82296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8" y="13258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874519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74519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Buyer credit support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32304" y="1874519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1874519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Credit support clause present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1114" y="1874519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5978" y="1874519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9924" y="1874519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4788" y="1874519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58734" y="1874519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3598" y="1874519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4" y="1874519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8" y="1874519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423160"/>
            <a:ext cx="2011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423160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Parent / guaranty mechanics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432304" y="242316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87168" y="242316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Buyer-specific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41114" y="242316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95978" y="242316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Buyer-specific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49924" y="242316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4788" y="242316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Buyer-specific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58734" y="242316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13598" y="242316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Buyer-specific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4" y="242316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8" y="242316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297180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2971800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Lender / direct agreement mechanics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32304" y="297180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87168" y="297180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Project-finance style provisions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41114" y="297180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95978" y="297180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9924" y="297180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04788" y="297180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58734" y="297180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3598" y="297180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4" y="297180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8" y="297180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520440"/>
            <a:ext cx="201168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520440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Limitations on liability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32304" y="352044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87168" y="352044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Caps/limits present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41114" y="352044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95978" y="352044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49924" y="352044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4788" y="352044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58734" y="3520440"/>
            <a:ext cx="190881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213598" y="352044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Similar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4" y="352044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8" y="352044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4069080"/>
            <a:ext cx="20116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4069080"/>
            <a:ext cx="190195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Representations / business practices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32304" y="406908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487168" y="40690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341114" y="406908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95978" y="40690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49924" y="406908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04788" y="40690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58734" y="4069080"/>
            <a:ext cx="190881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13598" y="4069080"/>
            <a:ext cx="179908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0">
                <a:solidFill>
                  <a:srgbClr val="1E293B"/>
                </a:solidFill>
                <a:latin typeface="Calibri"/>
              </a:rPr>
              <a:t>Present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67544" y="4069080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22408" y="40690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19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76656" y="4754880"/>
            <a:ext cx="10607040" cy="45720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86384" y="47548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Action: do not assume credit-support equivalence from the template. Buyer-specific parent support, LC triggers and credit ratings should be extracted separately.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First-pass RAG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High-confidence economic differences are concentrated in pricing, capacity charges, volume shape and non-lifting rights.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14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" y="1325880"/>
            <a:ext cx="192024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32588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Economic 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340864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95728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BG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2533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27397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Gas Natural Fenosa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04203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59067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GAIL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5873" y="1325880"/>
            <a:ext cx="1931669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90738" y="13258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067543" y="1325880"/>
            <a:ext cx="822960" cy="548640"/>
          </a:xfrm>
          <a:prstGeom prst="rect">
            <a:avLst/>
          </a:prstGeom>
          <a:solidFill>
            <a:srgbClr val="1732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22407" y="13258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624" y="1874519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1874519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Signature / effective date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40864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95728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25 Oct 2011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72533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27397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21 Nov 2011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04203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59067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11 Dec 2011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5873" y="187451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0738" y="187451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14 Dec 2012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67543" y="1874519"/>
            <a:ext cx="822960" cy="548640"/>
          </a:xfrm>
          <a:prstGeom prst="rect">
            <a:avLst/>
          </a:prstGeom>
          <a:solidFill>
            <a:srgbClr val="E6E6E6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122407" y="1874519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1B2A3A"/>
                </a:solidFill>
                <a:latin typeface="Calibri"/>
              </a:rPr>
              <a:t>NO RAG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" y="2423160"/>
            <a:ext cx="19202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" y="242316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Base commodity index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40864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395728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72533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27397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04203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59067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5873" y="242316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90738" y="242316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067543" y="2423160"/>
            <a:ext cx="822960" cy="548640"/>
          </a:xfrm>
          <a:prstGeom prst="rect">
            <a:avLst/>
          </a:prstGeom>
          <a:solidFill>
            <a:srgbClr val="DDEFE2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22407" y="242316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2E7D32"/>
                </a:solidFill>
                <a:latin typeface="Calibri"/>
              </a:rPr>
              <a:t>GREEN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" y="297180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75488" y="297180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Price architecture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40864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95728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UFC/MSC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72533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27397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UFC/MSC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04203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259067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Xy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5873" y="297180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90738" y="297180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HH + Xy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67543" y="2971800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22407" y="297180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4" y="3520440"/>
            <a:ext cx="19202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75488" y="352044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CPI escalation weight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340864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395728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UFC formula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272533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27397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UFC formula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204203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59067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15% of X0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135873" y="352044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0738" y="352044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11.5% of X0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67543" y="3520440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122407" y="352044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0624" y="4069080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5488" y="406908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Delivery shape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340864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395728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Ratable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272533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327397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Ratable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204203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259067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Ratable</a:t>
            </a:r>
          </a:p>
        </p:txBody>
      </p:sp>
      <p:sp>
        <p:nvSpPr>
          <p:cNvPr id="75" name="Rectangle 74"/>
          <p:cNvSpPr/>
          <p:nvPr/>
        </p:nvSpPr>
        <p:spPr>
          <a:xfrm>
            <a:off x="8135873" y="4069080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190738" y="406908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Annual + seasonal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0067543" y="4069080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0122407" y="406908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0624" y="4617720"/>
            <a:ext cx="19202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5488" y="4617720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Buyer non-lifting right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2340864" y="461772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2395728" y="461772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Cancellation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272533" y="461772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327397" y="461772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Cancellation</a:t>
            </a:r>
          </a:p>
        </p:txBody>
      </p:sp>
      <p:sp>
        <p:nvSpPr>
          <p:cNvPr id="85" name="Rectangle 84"/>
          <p:cNvSpPr/>
          <p:nvPr/>
        </p:nvSpPr>
        <p:spPr>
          <a:xfrm>
            <a:off x="6204203" y="461772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6259067" y="461772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Not same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135873" y="4617720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190738" y="4617720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Suspension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067543" y="4617720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22407" y="4617720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20624" y="5166359"/>
            <a:ext cx="19202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5488" y="5166359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Maintenance percentages</a:t>
            </a:r>
          </a:p>
        </p:txBody>
      </p:sp>
      <p:sp>
        <p:nvSpPr>
          <p:cNvPr id="93" name="Rectangle 92"/>
          <p:cNvSpPr/>
          <p:nvPr/>
        </p:nvSpPr>
        <p:spPr>
          <a:xfrm>
            <a:off x="2340864" y="516635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2395728" y="516635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6%/30%; 8.3%/16.6%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72533" y="516635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327397" y="516635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Same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204203" y="516635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259067" y="516635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Same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8135873" y="5166359"/>
            <a:ext cx="1931669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8190738" y="516635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Inspection base differs; 17% cumulative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10067543" y="5166359"/>
            <a:ext cx="822960" cy="548640"/>
          </a:xfrm>
          <a:prstGeom prst="rect">
            <a:avLst/>
          </a:prstGeom>
          <a:solidFill>
            <a:srgbClr val="FFF0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10122407" y="5166359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20624" y="5714999"/>
            <a:ext cx="1920240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475488" y="5714999"/>
            <a:ext cx="181051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DoP / damages basis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340864" y="5714999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2395728" y="571499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CSP-UFC interaction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272533" y="5714999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327397" y="571499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CSP-UFC interaction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204203" y="5714999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259067" y="571499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CSP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135873" y="5714999"/>
            <a:ext cx="1931669" cy="548640"/>
          </a:xfrm>
          <a:prstGeom prst="rect">
            <a:avLst/>
          </a:prstGeom>
          <a:solidFill>
            <a:srgbClr val="F7F9FC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190738" y="5714999"/>
            <a:ext cx="1821941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0">
                <a:solidFill>
                  <a:srgbClr val="1E293B"/>
                </a:solidFill>
                <a:latin typeface="Calibri"/>
              </a:rPr>
              <a:t>CSP + suspension/idling elements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10067543" y="5714999"/>
            <a:ext cx="822960" cy="548640"/>
          </a:xfrm>
          <a:prstGeom prst="rect">
            <a:avLst/>
          </a:prstGeom>
          <a:solidFill>
            <a:srgbClr val="F8D8D5"/>
          </a:solidFill>
          <a:ln w="635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10122407" y="5714999"/>
            <a:ext cx="713232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740" b="1">
                <a:solidFill>
                  <a:srgbClr val="B3261E"/>
                </a:solidFill>
                <a:latin typeface="Calibri"/>
              </a:rPr>
              <a:t>RED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Recommended valuation object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Separate cargo economics from capacity economics before computing value, hedge and risk.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71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2B5F8E"/>
                </a:solidFill>
                <a:latin typeface="Calibri"/>
              </a:rPr>
              <a:t>1. Variable commodity leg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0078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HH exposure: 1.15 × HH × loaded MMBtu.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1371600"/>
            <a:ext cx="3429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6B00"/>
                </a:solidFill>
                <a:latin typeface="Calibri"/>
              </a:rPr>
              <a:t>2. Fixed liquefaction leg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00784"/>
            <a:ext cx="34290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UFC/MSC or Xy component, CPI escalated.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1371600"/>
            <a:ext cx="3337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1">
                <a:solidFill>
                  <a:srgbClr val="B3261E"/>
                </a:solidFill>
                <a:latin typeface="Calibri"/>
              </a:rPr>
              <a:t>3. Non-lifting logic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1700784"/>
            <a:ext cx="33375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>
                <a:solidFill>
                  <a:srgbClr val="1E293B"/>
                </a:solidFill>
                <a:latin typeface="Calibri"/>
              </a:rPr>
              <a:t>Cancellation, suspension, MSC survival, suspension fee.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" y="2880360"/>
            <a:ext cx="10607040" cy="10058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" y="2880360"/>
            <a:ext cx="1042416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Inputs to store per contract: ACQ and tranche split; DFCD and term; extension volume; HH multiplier; UFC/X0/Xy formula; CPI base; monthly charge formula; cancellation/suspension right; damage reference price; FM/capacity-charge reduction; credit support; delivery profile.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76656" y="4069080"/>
            <a:ext cx="10607040" cy="777240"/>
          </a:xfrm>
          <a:prstGeom prst="rect">
            <a:avLst/>
          </a:prstGeom>
          <a:solidFill>
            <a:srgbClr val="EE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4069080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Output metrics: gross margin by leg; fixed-capacity recovery; hedge exposure to HH and CPI; optionality/cancellation exposure; DoP/cover damages under stress cases; credit-adjusted PV.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7324D"/>
                </a:solidFill>
                <a:latin typeface="Aptos Display"/>
              </a:rPr>
              <a:t>Caveats and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94944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>
                <a:solidFill>
                  <a:srgbClr val="475569"/>
                </a:solidFill>
                <a:latin typeface="Calibri"/>
              </a:rPr>
              <a:t>This is an economic comparison; it is not a legal blackline.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11155680" cy="0"/>
          </a:xfrm>
          <a:prstGeom prst="rect">
            <a:avLst/>
          </a:prstGeom>
          <a:noFill/>
          <a:ln w="12700">
            <a:solidFill>
              <a:srgbClr val="D7DE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528816"/>
            <a:ext cx="62179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750" b="0">
                <a:solidFill>
                  <a:srgbClr val="8A94A3"/>
                </a:solidFill>
                <a:latin typeface="Calibri"/>
              </a:rPr>
              <a:t>Cheniere Sabine Pass SPA economic-terms comparison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9672"/>
            <a:ext cx="3657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50" b="0">
                <a:solidFill>
                  <a:srgbClr val="8A94A3"/>
                </a:solidFill>
                <a:latin typeface="Calibri"/>
              </a:rPr>
              <a:t>16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389888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389888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62456" y="1371600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Buyer credit-support thresholds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49039" y="1371600"/>
            <a:ext cx="7543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Extract LC mechanics — buyer-specific credit economics may be material.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728216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1728216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62456" y="1709928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BG vs Gas Natural UFC/MSC blackline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1709928"/>
            <a:ext cx="7543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The UFC base differs visibly; remedy/cancellation interaction matters.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2066544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206654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62456" y="2048256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GAIL Bridging Volumes / Total suspension fee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2048256"/>
            <a:ext cx="7543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Read in full — potentially material transition-period economics.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2404872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404872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62456" y="2386584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Full DoP / cover damages formulas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39" y="2386584"/>
            <a:ext cx="7543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Reference price differs where UFC is separate.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743200"/>
            <a:ext cx="566928" cy="182880"/>
          </a:xfrm>
          <a:prstGeom prst="rect">
            <a:avLst/>
          </a:prstGeom>
          <a:solidFill>
            <a:srgbClr val="FFF0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743200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36B00"/>
                </a:solidFill>
                <a:latin typeface="Calibri"/>
              </a:rPr>
              <a:t>AMBER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62456" y="2724912"/>
            <a:ext cx="2331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60" b="1">
                <a:solidFill>
                  <a:srgbClr val="1E293B"/>
                </a:solidFill>
                <a:latin typeface="Calibri"/>
              </a:rPr>
              <a:t>Cheniere-specific template fields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2724912"/>
            <a:ext cx="7543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40" b="0">
                <a:solidFill>
                  <a:srgbClr val="475569"/>
                </a:solidFill>
                <a:latin typeface="Calibri"/>
              </a:rPr>
              <a:t>Add to the master LNG SPA comparison template; without them the table understates capacity-payment economics.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" y="3657600"/>
            <a:ext cx="10607040" cy="548640"/>
          </a:xfrm>
          <a:prstGeom prst="rect">
            <a:avLst/>
          </a:prstGeom>
          <a:solidFill>
            <a:srgbClr val="F5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36576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0" b="0">
                <a:solidFill>
                  <a:srgbClr val="1B2A3A"/>
                </a:solidFill>
                <a:latin typeface="Calibri"/>
              </a:rPr>
              <a:t>Main structural addition: add “Price architecture and capacity-payment mechanics” before the pricing RAG table.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