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22"/>
    <p:sldId id="272" r:id="rId23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49808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Driftwood LNG SPAs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Merged corrected economic-terms comparison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93852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Vitol • Gunvor • Shell SPA1 (JKM) • Shell SPA2 (TTF)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28529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F8E"/>
                </a:solidFill>
              </a:rPr>
              <a:t>Purpose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172968"/>
            <a:ext cx="5577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E293B"/>
                </a:solidFill>
              </a:rPr>
              <a:t>Identify visible commercial differences affecting valuation, hedging, volume, optionality, credit and project risk. This is an economic comparison, not a legal blackline.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 rot="1080000">
            <a:off x="8275320" y="658368"/>
            <a:ext cx="2971800" cy="2971800"/>
          </a:xfrm>
          <a:prstGeom prst="arc">
            <a:avLst/>
          </a:prstGeom>
          <a:noFill/>
          <a:ln w="25400">
            <a:solidFill>
              <a:srgbClr val="2B5F8E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4200000">
            <a:off x="8887968" y="1261872"/>
            <a:ext cx="1920240" cy="1920240"/>
          </a:xfrm>
          <a:prstGeom prst="arc">
            <a:avLst/>
          </a:prstGeom>
          <a:noFill/>
          <a:ln w="25400">
            <a:solidFill>
              <a:srgbClr val="B36B00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8700000">
            <a:off x="9418320" y="1691640"/>
            <a:ext cx="1143000" cy="1143000"/>
          </a:xfrm>
          <a:prstGeom prst="arc">
            <a:avLst/>
          </a:prstGeom>
          <a:noFill/>
          <a:ln w="25400">
            <a:solidFill>
              <a:srgbClr val="B3261E">
                <a:alpha val="8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4937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F8E"/>
                </a:solidFill>
              </a:rPr>
              <a:t>Visible terms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979408" y="49377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36B00"/>
                </a:solidFill>
              </a:rPr>
              <a:t>Redactions / unknowns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61320" y="4937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3261E"/>
                </a:solidFill>
              </a:rPr>
              <a:t>Modelling impact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3"/>
                </a:solidFill>
              </a:rPr>
              <a:t>Driftwood LNG SPA economic-terms comparison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3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read-across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 contracts use a common LNG SPA skeleton but differ on first-order economic drivers.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3429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</a:rPr>
              <a:t>Fact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655064"/>
            <a:ext cx="342900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All four contracts are Driftwood LNG FOB sale and purchase agreements with buyer shipping, Driftwood delivery point, similar title/risk transfer, common AACQ mechanics and a common broad FM architecture.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434840" y="1325880"/>
            <a:ext cx="3429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5F8E"/>
                </a:solidFill>
              </a:rPr>
              <a:t>Inference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434840" y="1655064"/>
            <a:ext cx="342900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850">
                <a:solidFill>
                  <a:srgbClr val="1B2A3A"/>
                </a:solidFill>
              </a:rPr>
              <a:t>They should be modelled as related contract forms, not as one standard product. ACQ is a scale input, not a RAG-scored difference; other numerical terms are scored against ACQ where relevant.</a:t>
            </a:r>
          </a:p>
        </p:txBody>
      </p:sp>
      <p:sp>
        <p:nvSpPr>
          <p:cNvPr id="9" name="Text 7"/>
          <p:cNvSpPr/>
          <p:nvPr/>
        </p:nvSpPr>
        <p:spPr>
          <a:xfrm>
            <a:off x="8275320" y="1325880"/>
            <a:ext cx="3337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6B00"/>
                </a:solidFill>
              </a:rPr>
              <a:t>Unknown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75320" y="1655064"/>
            <a:ext cx="333756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Redacted terms prevent confirmation of price slopes, discounts, floors, liability caps, credit thresholds and LC amounts. No redacted number should be guessed.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1097280" cy="502920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3337560"/>
            <a:ext cx="1965960" cy="502920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Commercial meaning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94760" y="3337560"/>
            <a:ext cx="7498080" cy="502920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items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1097280" cy="502920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3261E"/>
                </a:solidFill>
              </a:rPr>
              <a:t>RED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3840480"/>
            <a:ext cx="1965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Visible economic difference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94760" y="3840480"/>
            <a:ext cx="7498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sz="850">
                <a:solidFill>
                  <a:srgbClr val="1B2A3A"/>
                </a:solidFill>
              </a:rPr>
              <a:t>Index/formula, TTF FX basis, seasonality, extension options, credit support, multiple-SPA coordination</a:t>
            </a:r>
          </a:p>
        </p:txBody>
      </p:sp>
      <p:sp>
        <p:nvSpPr>
          <p:cNvPr id="17" name="Text 15"/>
          <p:cNvSpPr/>
          <p:nvPr/>
        </p:nvSpPr>
        <p:spPr>
          <a:xfrm>
            <a:off x="731520" y="4343400"/>
            <a:ext cx="1097280" cy="502920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36B00"/>
                </a:solidFill>
              </a:rPr>
              <a:t>AMBER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4343400"/>
            <a:ext cx="196596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Framework similar, but caveats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94760" y="4343400"/>
            <a:ext cx="749808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CP timing, pricing-month redactions, liability caps, assignment, ESG/HSEC, sanctions, detailed FM wording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846320"/>
            <a:ext cx="1097280" cy="502920"/>
          </a:xfrm>
          <a:prstGeom prst="rect">
            <a:avLst/>
          </a:prstGeom>
          <a:solidFill>
            <a:srgbClr val="DDEFE2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GREEN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0" y="4846320"/>
            <a:ext cx="1965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 material difference detected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94760" y="4846320"/>
            <a:ext cx="7498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FOB delivery, title/risk, buyer shipping, AACQ framework, round-up/down, measurement, invoicing architecture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3"/>
                </a:solidFill>
              </a:rPr>
              <a:t>Driftwood LNG SPA economic-terms comparison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3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 items: visible economic differences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These are the items to model separately rather than treating the SPAs as equivalent.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8448"/>
            <a:ext cx="2240280" cy="502920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Driver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898648" y="1298448"/>
            <a:ext cx="8321040" cy="502920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Visible difference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801368"/>
            <a:ext cx="2240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Pricing formula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2898648" y="1801368"/>
            <a:ext cx="8321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Vitol: multiplier over JKM+TTF; Gunvor: separately weighted JKM/TTF; Shell: pure JKM / pure TTF.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658368" y="2304288"/>
            <a:ext cx="224028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TTF FX conversion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2898648" y="2304288"/>
            <a:ext cx="832104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Gunvor uses ECB reference rate; Vitol and Shell SPA2 use Bloomberg/Reuters 16:00 London.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658368" y="2807208"/>
            <a:ext cx="2240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sz="850">
                <a:solidFill>
                  <a:srgbClr val="1B2A3A"/>
                </a:solidFill>
              </a:rPr>
              <a:t>ACQ sizing note</a:t>
            </a:r>
          </a:p>
        </p:txBody>
      </p:sp>
      <p:sp>
        <p:nvSpPr>
          <p:cNvPr id="12" name="Text 10"/>
          <p:cNvSpPr/>
          <p:nvPr/>
        </p:nvSpPr>
        <p:spPr>
          <a:xfrm>
            <a:off x="2898648" y="2807208"/>
            <a:ext cx="8321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sz="850">
                <a:solidFill>
                  <a:srgbClr val="1B2A3A"/>
                </a:solidFill>
              </a:rPr>
              <a:t>ACQ size is a contract-scale input, not a RAG-scored term; ratio-based items are scored versus ACQ.</a:t>
            </a:r>
          </a:p>
        </p:txBody>
      </p:sp>
      <p:sp>
        <p:nvSpPr>
          <p:cNvPr id="13" name="Text 11"/>
          <p:cNvSpPr/>
          <p:nvPr/>
        </p:nvSpPr>
        <p:spPr>
          <a:xfrm>
            <a:off x="658368" y="3310128"/>
            <a:ext cx="224028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Delivery shape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2898648" y="3310128"/>
            <a:ext cx="832104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Shell has explicit winter-weighted seasonal tranches; Vitol/Gunvor are even/ratable.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658368" y="3813048"/>
            <a:ext cx="2240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Extension optionality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2898648" y="3813048"/>
            <a:ext cx="8321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Shell SPA1/2 include two buyer-elected 5-year extensions; Vitol/Gunvor do not.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58368" y="4315968"/>
            <a:ext cx="224028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Credit support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2898648" y="4315968"/>
            <a:ext cx="832104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Vitol/Gunvor use named guarantor/LC mechanics; Shell has more generic acceptable support.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658368" y="4818888"/>
            <a:ext cx="2240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Multiple-SPA coordination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2898648" y="4818888"/>
            <a:ext cx="8321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Shell-only clause coordinates the two SPAs while preserving separate liabilities and caps.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713232" y="5623560"/>
            <a:ext cx="10515600" cy="530352"/>
          </a:xfrm>
          <a:prstGeom prst="rect">
            <a:avLst/>
          </a:prstGeom>
          <a:solidFill>
            <a:srgbClr val="EEF4F8"/>
          </a:solidFill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120">
                <a:solidFill>
                  <a:srgbClr val="1B2A3A"/>
                </a:solidFill>
              </a:rPr>
              <a:t>Modelling implication: these are not just drafting differences. They change index exposure, optionality, hedge construction, settlement basis and credit valuation adjustment. ACQ remains a model input, not a RED term by itself.</a:t>
            </a:r>
          </a:p>
        </p:txBody>
      </p:sp>
      <p:sp>
        <p:nvSpPr>
          <p:cNvPr id="22" name="Text 20"/>
          <p:cNvSpPr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3"/>
                </a:solidFill>
              </a:rPr>
              <a:t>Driftwood LNG SPA economic-terms comparison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3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 items: common economic skeleton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 shared template matters because it narrows the real valuation work to a smaller set of commercial drivers.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17320"/>
            <a:ext cx="516636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E293B"/>
                </a:solidFill>
              </a:rPr>
              <a:t>• Same seller: Driftwood LNG LLC.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E293B"/>
                </a:solidFill>
              </a:rPr>
              <a:t>• FOB delivery at the Driftwood LNG Terminal; buyer provides LNG tankers.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E293B"/>
                </a:solidFill>
              </a:rPr>
              <a:t>• Title and risk pass at the delivery point.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E293B"/>
                </a:solidFill>
              </a:rPr>
              <a:t>• Broad destination flexibility subject to export and trade-law constraints.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E293B"/>
                </a:solidFill>
              </a:rPr>
              <a:t>• AACQ adjustment, round-up/down and maintenance reduction framework broadly common.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E293B"/>
                </a:solidFill>
              </a:rPr>
              <a:t>• Cargo invoicing, DoP/shortfall invoicing and late-payment mechanism broadly common.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E293B"/>
                </a:solidFill>
              </a:rPr>
              <a:t>• Core Upstream FM Henry Hub-basis buyer election is common.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E293B"/>
                </a:solidFill>
              </a:rPr>
              <a:t>• Measurement and MMBtu quantity framework appears common.</a:t>
            </a:r>
            <a:endParaRPr lang="en-US" sz="1230" dirty="0"/>
          </a:p>
        </p:txBody>
      </p:sp>
      <p:sp>
        <p:nvSpPr>
          <p:cNvPr id="6" name="Text 4"/>
          <p:cNvSpPr/>
          <p:nvPr/>
        </p:nvSpPr>
        <p:spPr>
          <a:xfrm>
            <a:off x="6400800" y="1417320"/>
            <a:ext cx="2057400" cy="65836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Common feature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1417320"/>
            <a:ext cx="3063240" cy="65836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Economic effect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0" y="2075688"/>
            <a:ext cx="2057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</a:rPr>
              <a:t>FOB / buyer shipping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8458200" y="2075688"/>
            <a:ext cx="3063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</a:rPr>
              <a:t>Buyer controls shipping economics and destination optimisation.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6400800" y="2734056"/>
            <a:ext cx="205740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</a:rPr>
              <a:t>Ratable base framework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8458200" y="2734056"/>
            <a:ext cx="306324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</a:rPr>
              <a:t>No general buyer swing right; volume flexibility is mostly operational.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400800" y="3392424"/>
            <a:ext cx="2057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</a:rPr>
              <a:t>AACQ adjustments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8458200" y="3392424"/>
            <a:ext cx="3063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</a:rPr>
              <a:t>Annual volume account reconciles maintenance and cargo-lot rounding.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6400800" y="4050792"/>
            <a:ext cx="205740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</a:rPr>
              <a:t>HH-basis Upstream FM election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8458200" y="4050792"/>
            <a:ext cx="306324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</a:rPr>
              <a:t>Buyer may mitigate certain upstream supply failure through HH-priced cargoes.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3"/>
                </a:solidFill>
              </a:rPr>
              <a:t>Driftwood LNG SPA economic-terms comparison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3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and hedge construction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 pricing rows are the biggest valuation difference. The redacted constants prevent value replication but not structural comparison.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325880"/>
            <a:ext cx="1234440" cy="512064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Item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1655064" y="1325880"/>
            <a:ext cx="2148840" cy="512064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Vitol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3803904" y="1325880"/>
            <a:ext cx="2148840" cy="512064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Gunvor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5952744" y="1325880"/>
            <a:ext cx="1920240" cy="512064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Shell SPA1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7872984" y="1325880"/>
            <a:ext cx="1920240" cy="512064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Shell SPA2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9793224" y="1325880"/>
            <a:ext cx="822960" cy="512064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RAG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20624" y="1837944"/>
            <a:ext cx="1234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Aptos"/>
              </a:rPr>
              <a:t>Base CSP</a:t>
            </a:r>
          </a:p>
          <a:p>
            <a:pPr algn="ctr"/>
            <a:r>
              <a:rPr sz="900" b="0">
                <a:solidFill>
                  <a:srgbClr val="334155"/>
                </a:solidFill>
                <a:latin typeface="Aptos"/>
              </a:rPr>
              <a:t>(visible formula)</a:t>
            </a:r>
          </a:p>
        </p:txBody>
      </p:sp>
      <p:sp>
        <p:nvSpPr>
          <p:cNvPr id="12" name="Text 10"/>
          <p:cNvSpPr/>
          <p:nvPr/>
        </p:nvSpPr>
        <p:spPr>
          <a:xfrm>
            <a:off x="1655064" y="1837944"/>
            <a:ext cx="21488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sz="800" b="0">
                <a:solidFill>
                  <a:srgbClr val="334155"/>
                </a:solidFill>
                <a:latin typeface="Aptos"/>
              </a:rPr>
              <a:t>CSP = [***] x</a:t>
            </a:r>
          </a:p>
          <a:p>
            <a:pPr algn="ctr"/>
            <a:r>
              <a:rPr sz="800" b="0">
                <a:solidFill>
                  <a:srgbClr val="334155"/>
                </a:solidFill>
                <a:latin typeface="Aptos"/>
              </a:rPr>
              <a:t>(JKM CSP + TTF CSP)</a:t>
            </a:r>
          </a:p>
        </p:txBody>
      </p:sp>
      <p:sp>
        <p:nvSpPr>
          <p:cNvPr id="13" name="Text 11"/>
          <p:cNvSpPr/>
          <p:nvPr/>
        </p:nvSpPr>
        <p:spPr>
          <a:xfrm>
            <a:off x="3803904" y="1837944"/>
            <a:ext cx="21488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sz="800" b="0">
                <a:solidFill>
                  <a:srgbClr val="334155"/>
                </a:solidFill>
                <a:latin typeface="Aptos"/>
              </a:rPr>
              <a:t>CSP = ([***]% JKM CSP)</a:t>
            </a:r>
          </a:p>
          <a:p>
            <a:pPr algn="ctr"/>
            <a:r>
              <a:rPr sz="800" b="0">
                <a:solidFill>
                  <a:srgbClr val="334155"/>
                </a:solidFill>
                <a:latin typeface="Aptos"/>
              </a:rPr>
              <a:t>+ ([***]%TTF CSP)</a:t>
            </a:r>
          </a:p>
        </p:txBody>
      </p:sp>
      <p:sp>
        <p:nvSpPr>
          <p:cNvPr id="14" name="Text 12"/>
          <p:cNvSpPr/>
          <p:nvPr/>
        </p:nvSpPr>
        <p:spPr>
          <a:xfrm>
            <a:off x="5952744" y="1837944"/>
            <a:ext cx="1920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sz="700" b="0">
                <a:solidFill>
                  <a:srgbClr val="334155"/>
                </a:solidFill>
                <a:latin typeface="Aptos"/>
              </a:rPr>
              <a:t>CSP = greater of (a)</a:t>
            </a:r>
          </a:p>
          <a:p>
            <a:pPr algn="ctr"/>
            <a:r>
              <a:rPr sz="700" b="0">
                <a:solidFill>
                  <a:srgbClr val="334155"/>
                </a:solidFill>
                <a:latin typeface="Aptos"/>
              </a:rPr>
              <a:t>{([***]% x JKM) – US$[***]/MMBtu}</a:t>
            </a:r>
          </a:p>
          <a:p>
            <a:pPr algn="ctr"/>
            <a:r>
              <a:rPr sz="700" b="0">
                <a:solidFill>
                  <a:srgbClr val="334155"/>
                </a:solidFill>
                <a:latin typeface="Aptos"/>
              </a:rPr>
              <a:t>and (b) US$[***]/MMBtu</a:t>
            </a:r>
          </a:p>
        </p:txBody>
      </p:sp>
      <p:sp>
        <p:nvSpPr>
          <p:cNvPr id="15" name="Text 13"/>
          <p:cNvSpPr/>
          <p:nvPr/>
        </p:nvSpPr>
        <p:spPr>
          <a:xfrm>
            <a:off x="7872984" y="1837944"/>
            <a:ext cx="1920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sz="700" b="0">
                <a:solidFill>
                  <a:srgbClr val="334155"/>
                </a:solidFill>
                <a:latin typeface="Aptos"/>
              </a:rPr>
              <a:t>CSP = greater of (a)</a:t>
            </a:r>
          </a:p>
          <a:p>
            <a:pPr algn="ctr"/>
            <a:r>
              <a:rPr sz="700" b="0">
                <a:solidFill>
                  <a:srgbClr val="334155"/>
                </a:solidFill>
                <a:latin typeface="Aptos"/>
              </a:rPr>
              <a:t>{([***]% x TTF) – US$[***]/MMBtu}</a:t>
            </a:r>
          </a:p>
          <a:p>
            <a:pPr algn="ctr"/>
            <a:r>
              <a:rPr sz="700" b="0">
                <a:solidFill>
                  <a:srgbClr val="334155"/>
                </a:solidFill>
                <a:latin typeface="Aptos"/>
              </a:rPr>
              <a:t>and (b) US$[***]/MMBtu</a:t>
            </a:r>
          </a:p>
        </p:txBody>
      </p:sp>
      <p:sp>
        <p:nvSpPr>
          <p:cNvPr id="16" name="Text 14"/>
          <p:cNvSpPr/>
          <p:nvPr/>
        </p:nvSpPr>
        <p:spPr>
          <a:xfrm>
            <a:off x="9793224" y="1837944"/>
            <a:ext cx="822960" cy="512064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B3261E"/>
                </a:solidFill>
              </a:rPr>
              <a:t>RED</a:t>
            </a:r>
            <a:endParaRPr lang="en-US" sz="890" dirty="0"/>
          </a:p>
        </p:txBody>
      </p:sp>
      <p:sp>
        <p:nvSpPr>
          <p:cNvPr id="17" name="Text 15"/>
          <p:cNvSpPr/>
          <p:nvPr/>
        </p:nvSpPr>
        <p:spPr>
          <a:xfrm>
            <a:off x="420624" y="2350008"/>
            <a:ext cx="123444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TTF FX</a:t>
            </a:r>
            <a:endParaRPr lang="en-US" sz="890" dirty="0"/>
          </a:p>
        </p:txBody>
      </p:sp>
      <p:sp>
        <p:nvSpPr>
          <p:cNvPr id="18" name="Text 16"/>
          <p:cNvSpPr/>
          <p:nvPr/>
        </p:nvSpPr>
        <p:spPr>
          <a:xfrm>
            <a:off x="1655064" y="2350008"/>
            <a:ext cx="214884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Bloomberg/Reuters 16:00 London</a:t>
            </a:r>
            <a:endParaRPr lang="en-US" sz="890" dirty="0"/>
          </a:p>
        </p:txBody>
      </p:sp>
      <p:sp>
        <p:nvSpPr>
          <p:cNvPr id="19" name="Text 17"/>
          <p:cNvSpPr/>
          <p:nvPr/>
        </p:nvSpPr>
        <p:spPr>
          <a:xfrm>
            <a:off x="3803904" y="2350008"/>
            <a:ext cx="214884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ECB reference rate</a:t>
            </a:r>
            <a:endParaRPr lang="en-US" sz="890" dirty="0"/>
          </a:p>
        </p:txBody>
      </p:sp>
      <p:sp>
        <p:nvSpPr>
          <p:cNvPr id="20" name="Text 18"/>
          <p:cNvSpPr/>
          <p:nvPr/>
        </p:nvSpPr>
        <p:spPr>
          <a:xfrm>
            <a:off x="5952744" y="2350008"/>
            <a:ext cx="192024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n/a</a:t>
            </a:r>
            <a:endParaRPr lang="en-US" sz="890" dirty="0"/>
          </a:p>
        </p:txBody>
      </p:sp>
      <p:sp>
        <p:nvSpPr>
          <p:cNvPr id="21" name="Text 19"/>
          <p:cNvSpPr/>
          <p:nvPr/>
        </p:nvSpPr>
        <p:spPr>
          <a:xfrm>
            <a:off x="7872984" y="2350008"/>
            <a:ext cx="192024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Bloomberg/Reuters 16:00 London</a:t>
            </a:r>
            <a:endParaRPr lang="en-US" sz="890" dirty="0"/>
          </a:p>
        </p:txBody>
      </p:sp>
      <p:sp>
        <p:nvSpPr>
          <p:cNvPr id="22" name="Text 20"/>
          <p:cNvSpPr/>
          <p:nvPr/>
        </p:nvSpPr>
        <p:spPr>
          <a:xfrm>
            <a:off x="9793224" y="2350008"/>
            <a:ext cx="822960" cy="512064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B3261E"/>
                </a:solidFill>
              </a:rPr>
              <a:t>RED</a:t>
            </a:r>
            <a:endParaRPr lang="en-US" sz="890" dirty="0"/>
          </a:p>
        </p:txBody>
      </p:sp>
      <p:sp>
        <p:nvSpPr>
          <p:cNvPr id="23" name="Text 21"/>
          <p:cNvSpPr/>
          <p:nvPr/>
        </p:nvSpPr>
        <p:spPr>
          <a:xfrm>
            <a:off x="420624" y="2862072"/>
            <a:ext cx="1234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Price constants</a:t>
            </a:r>
            <a:endParaRPr lang="en-US" sz="890" dirty="0"/>
          </a:p>
        </p:txBody>
      </p:sp>
      <p:sp>
        <p:nvSpPr>
          <p:cNvPr id="24" name="Text 22"/>
          <p:cNvSpPr/>
          <p:nvPr/>
        </p:nvSpPr>
        <p:spPr>
          <a:xfrm>
            <a:off x="1655064" y="2862072"/>
            <a:ext cx="21488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Redacted</a:t>
            </a:r>
            <a:endParaRPr lang="en-US" sz="890" dirty="0"/>
          </a:p>
        </p:txBody>
      </p:sp>
      <p:sp>
        <p:nvSpPr>
          <p:cNvPr id="25" name="Text 23"/>
          <p:cNvSpPr/>
          <p:nvPr/>
        </p:nvSpPr>
        <p:spPr>
          <a:xfrm>
            <a:off x="3803904" y="2862072"/>
            <a:ext cx="21488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Redacted</a:t>
            </a:r>
            <a:endParaRPr lang="en-US" sz="890" dirty="0"/>
          </a:p>
        </p:txBody>
      </p:sp>
      <p:sp>
        <p:nvSpPr>
          <p:cNvPr id="26" name="Text 24"/>
          <p:cNvSpPr/>
          <p:nvPr/>
        </p:nvSpPr>
        <p:spPr>
          <a:xfrm>
            <a:off x="5952744" y="2862072"/>
            <a:ext cx="1920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Redacted</a:t>
            </a:r>
            <a:endParaRPr lang="en-US" sz="890" dirty="0"/>
          </a:p>
        </p:txBody>
      </p:sp>
      <p:sp>
        <p:nvSpPr>
          <p:cNvPr id="27" name="Text 25"/>
          <p:cNvSpPr/>
          <p:nvPr/>
        </p:nvSpPr>
        <p:spPr>
          <a:xfrm>
            <a:off x="7872984" y="2862072"/>
            <a:ext cx="1920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Redacted</a:t>
            </a:r>
            <a:endParaRPr lang="en-US" sz="890" dirty="0"/>
          </a:p>
        </p:txBody>
      </p:sp>
      <p:sp>
        <p:nvSpPr>
          <p:cNvPr id="28" name="Text 26"/>
          <p:cNvSpPr/>
          <p:nvPr/>
        </p:nvSpPr>
        <p:spPr>
          <a:xfrm>
            <a:off x="9793224" y="2862072"/>
            <a:ext cx="822960" cy="512064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B36B00"/>
                </a:solidFill>
              </a:rPr>
              <a:t>AMBER</a:t>
            </a:r>
            <a:endParaRPr lang="en-US" sz="890" dirty="0"/>
          </a:p>
        </p:txBody>
      </p:sp>
      <p:sp>
        <p:nvSpPr>
          <p:cNvPr id="29" name="Text 27"/>
          <p:cNvSpPr/>
          <p:nvPr/>
        </p:nvSpPr>
        <p:spPr>
          <a:xfrm>
            <a:off x="420624" y="3374136"/>
            <a:ext cx="123444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Pricing month</a:t>
            </a:r>
            <a:endParaRPr lang="en-US" sz="890" dirty="0"/>
          </a:p>
        </p:txBody>
      </p:sp>
      <p:sp>
        <p:nvSpPr>
          <p:cNvPr id="30" name="Text 28"/>
          <p:cNvSpPr/>
          <p:nvPr/>
        </p:nvSpPr>
        <p:spPr>
          <a:xfrm>
            <a:off x="1655064" y="3374136"/>
            <a:ext cx="214884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Redacted</a:t>
            </a:r>
            <a:endParaRPr lang="en-US" sz="890" dirty="0"/>
          </a:p>
        </p:txBody>
      </p:sp>
      <p:sp>
        <p:nvSpPr>
          <p:cNvPr id="31" name="Text 29"/>
          <p:cNvSpPr/>
          <p:nvPr/>
        </p:nvSpPr>
        <p:spPr>
          <a:xfrm>
            <a:off x="3803904" y="3374136"/>
            <a:ext cx="214884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Month after ADP delivery window</a:t>
            </a:r>
            <a:endParaRPr lang="en-US" sz="890" dirty="0"/>
          </a:p>
        </p:txBody>
      </p:sp>
      <p:sp>
        <p:nvSpPr>
          <p:cNvPr id="32" name="Text 30"/>
          <p:cNvSpPr/>
          <p:nvPr/>
        </p:nvSpPr>
        <p:spPr>
          <a:xfrm>
            <a:off x="5952744" y="3374136"/>
            <a:ext cx="192024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Redacted</a:t>
            </a:r>
            <a:endParaRPr lang="en-US" sz="890" dirty="0"/>
          </a:p>
        </p:txBody>
      </p:sp>
      <p:sp>
        <p:nvSpPr>
          <p:cNvPr id="33" name="Text 31"/>
          <p:cNvSpPr/>
          <p:nvPr/>
        </p:nvSpPr>
        <p:spPr>
          <a:xfrm>
            <a:off x="7872984" y="3374136"/>
            <a:ext cx="192024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Redacted</a:t>
            </a:r>
            <a:endParaRPr lang="en-US" sz="890" dirty="0"/>
          </a:p>
        </p:txBody>
      </p:sp>
      <p:sp>
        <p:nvSpPr>
          <p:cNvPr id="34" name="Text 32"/>
          <p:cNvSpPr/>
          <p:nvPr/>
        </p:nvSpPr>
        <p:spPr>
          <a:xfrm>
            <a:off x="9793224" y="3374136"/>
            <a:ext cx="822960" cy="512064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B36B00"/>
                </a:solidFill>
              </a:rPr>
              <a:t>AMBER</a:t>
            </a:r>
            <a:endParaRPr lang="en-US" sz="890" dirty="0"/>
          </a:p>
        </p:txBody>
      </p:sp>
      <p:sp>
        <p:nvSpPr>
          <p:cNvPr id="35" name="Text 33"/>
          <p:cNvSpPr/>
          <p:nvPr/>
        </p:nvSpPr>
        <p:spPr>
          <a:xfrm>
            <a:off x="420624" y="3886200"/>
            <a:ext cx="1234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sz="800" b="0">
                <a:solidFill>
                  <a:srgbClr val="334155"/>
                </a:solidFill>
                <a:latin typeface="Aptos"/>
              </a:rPr>
              <a:t>Extension CSP</a:t>
            </a:r>
          </a:p>
          <a:p>
            <a:pPr algn="ctr"/>
            <a:r>
              <a:rPr sz="800" b="0">
                <a:solidFill>
                  <a:srgbClr val="334155"/>
                </a:solidFill>
                <a:latin typeface="Aptos"/>
              </a:rPr>
              <a:t>(formula line)</a:t>
            </a:r>
          </a:p>
        </p:txBody>
      </p:sp>
      <p:sp>
        <p:nvSpPr>
          <p:cNvPr id="36" name="Text 34"/>
          <p:cNvSpPr/>
          <p:nvPr/>
        </p:nvSpPr>
        <p:spPr>
          <a:xfrm>
            <a:off x="1655064" y="3886200"/>
            <a:ext cx="21488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n/a</a:t>
            </a:r>
            <a:endParaRPr lang="en-US" sz="890" dirty="0"/>
          </a:p>
        </p:txBody>
      </p:sp>
      <p:sp>
        <p:nvSpPr>
          <p:cNvPr id="37" name="Text 35"/>
          <p:cNvSpPr/>
          <p:nvPr/>
        </p:nvSpPr>
        <p:spPr>
          <a:xfrm>
            <a:off x="3803904" y="3886200"/>
            <a:ext cx="21488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n/a</a:t>
            </a:r>
            <a:endParaRPr lang="en-US" sz="890" dirty="0"/>
          </a:p>
        </p:txBody>
      </p:sp>
      <p:sp>
        <p:nvSpPr>
          <p:cNvPr id="38" name="Text 36"/>
          <p:cNvSpPr/>
          <p:nvPr/>
        </p:nvSpPr>
        <p:spPr>
          <a:xfrm>
            <a:off x="5952744" y="3886200"/>
            <a:ext cx="1920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sz="700" b="0">
                <a:solidFill>
                  <a:srgbClr val="334155"/>
                </a:solidFill>
                <a:latin typeface="Aptos"/>
              </a:rPr>
              <a:t>9.1.2 / 9.1.3:</a:t>
            </a:r>
          </a:p>
          <a:p>
            <a:pPr algn="ctr"/>
            <a:r>
              <a:rPr sz="700" b="0">
                <a:solidFill>
                  <a:srgbClr val="334155"/>
                </a:solidFill>
                <a:latin typeface="Aptos"/>
              </a:rPr>
              <a:t>same visible JKM form;</a:t>
            </a:r>
          </a:p>
          <a:p>
            <a:pPr algn="ctr"/>
            <a:r>
              <a:rPr sz="700" b="0">
                <a:solidFill>
                  <a:srgbClr val="334155"/>
                </a:solidFill>
                <a:latin typeface="Aptos"/>
              </a:rPr>
              <a:t>redacted values unknown</a:t>
            </a:r>
          </a:p>
        </p:txBody>
      </p:sp>
      <p:sp>
        <p:nvSpPr>
          <p:cNvPr id="39" name="Text 37"/>
          <p:cNvSpPr/>
          <p:nvPr/>
        </p:nvSpPr>
        <p:spPr>
          <a:xfrm>
            <a:off x="7872984" y="3886200"/>
            <a:ext cx="1920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sz="700" b="0">
                <a:solidFill>
                  <a:srgbClr val="334155"/>
                </a:solidFill>
                <a:latin typeface="Aptos"/>
              </a:rPr>
              <a:t>9.1.2 / 9.1.3:</a:t>
            </a:r>
          </a:p>
          <a:p>
            <a:pPr algn="ctr"/>
            <a:r>
              <a:rPr sz="700" b="0">
                <a:solidFill>
                  <a:srgbClr val="334155"/>
                </a:solidFill>
                <a:latin typeface="Aptos"/>
              </a:rPr>
              <a:t>same visible TTF form;</a:t>
            </a:r>
          </a:p>
          <a:p>
            <a:pPr algn="ctr"/>
            <a:r>
              <a:rPr sz="700" b="0">
                <a:solidFill>
                  <a:srgbClr val="334155"/>
                </a:solidFill>
                <a:latin typeface="Aptos"/>
              </a:rPr>
              <a:t>redacted values unknown</a:t>
            </a:r>
          </a:p>
        </p:txBody>
      </p:sp>
      <p:sp>
        <p:nvSpPr>
          <p:cNvPr id="40" name="Text 38"/>
          <p:cNvSpPr/>
          <p:nvPr/>
        </p:nvSpPr>
        <p:spPr>
          <a:xfrm>
            <a:off x="9793224" y="3886200"/>
            <a:ext cx="822960" cy="512064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B3261E"/>
                </a:solidFill>
              </a:rPr>
              <a:t>RED</a:t>
            </a:r>
            <a:endParaRPr lang="en-US" sz="890" dirty="0"/>
          </a:p>
        </p:txBody>
      </p:sp>
      <p:sp>
        <p:nvSpPr>
          <p:cNvPr id="41" name="Text 39"/>
          <p:cNvSpPr/>
          <p:nvPr/>
        </p:nvSpPr>
        <p:spPr>
          <a:xfrm>
            <a:off x="676656" y="4709160"/>
            <a:ext cx="10607040" cy="658368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800" b="0">
                <a:solidFill>
                  <a:srgbClr val="334155"/>
                </a:solidFill>
                <a:latin typeface="Aptos"/>
              </a:rPr>
              <a:t>Hedging implication: exact visible/redacted contract formula text is set out in Appendix F and Appendix G. Do not infer redacted slopes, deductions or floors.</a:t>
            </a:r>
          </a:p>
        </p:txBody>
      </p:sp>
      <p:sp>
        <p:nvSpPr>
          <p:cNvPr id="42" name="Text 40"/>
          <p:cNvSpPr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3"/>
                </a:solidFill>
              </a:rPr>
              <a:t>Driftwood LNG SPA economic-terms comparison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3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Volume, shape and term optionality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ACQ is a scale input; other numerical fields are assessed as percentages of ACQ where relevant.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325880"/>
            <a:ext cx="1234440" cy="512064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55064" y="1325880"/>
            <a:ext cx="1965960" cy="512064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Vitol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21024" y="1325880"/>
            <a:ext cx="1965960" cy="512064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Gunvor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86984" y="1325880"/>
            <a:ext cx="1874520" cy="512064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Shell SPA1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61504" y="1325880"/>
            <a:ext cx="1874520" cy="512064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Shell SPA2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336024" y="1325880"/>
            <a:ext cx="822960" cy="512064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1837944"/>
            <a:ext cx="1234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ACQ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655064" y="1837944"/>
            <a:ext cx="1965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156.51m MMBtu/yr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621024" y="1837944"/>
            <a:ext cx="1965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156.51m MMBtu/yr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586984" y="1837944"/>
            <a:ext cx="1874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52.17m MMBtu/yr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7461504" y="1837944"/>
            <a:ext cx="1874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104.34m MMBtu/yr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9336024" y="1837944"/>
            <a:ext cx="822960" cy="512064"/>
          </a:xfrm>
          <a:prstGeom prst="rect">
            <a:avLst/>
          </a:prstGeom>
          <a:solidFill>
            <a:srgbClr val="E6E6E6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sz="880" b="1">
                <a:solidFill>
                  <a:srgbClr val="1B2A3A"/>
                </a:solidFill>
              </a:rPr>
              <a:t>N/A</a:t>
            </a:r>
          </a:p>
        </p:txBody>
      </p:sp>
      <p:sp>
        <p:nvSpPr>
          <p:cNvPr id="17" name="Text 15"/>
          <p:cNvSpPr/>
          <p:nvPr/>
        </p:nvSpPr>
        <p:spPr>
          <a:xfrm>
            <a:off x="420624" y="2350008"/>
            <a:ext cx="123444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Start-up ACQ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655064" y="2350008"/>
            <a:ext cx="196596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sz="880">
                <a:solidFill>
                  <a:srgbClr val="1B2A3A"/>
                </a:solidFill>
              </a:rPr>
              <a:t>78.255m; 50% ACQ</a:t>
            </a:r>
          </a:p>
        </p:txBody>
      </p:sp>
      <p:sp>
        <p:nvSpPr>
          <p:cNvPr id="19" name="Text 17"/>
          <p:cNvSpPr/>
          <p:nvPr/>
        </p:nvSpPr>
        <p:spPr>
          <a:xfrm>
            <a:off x="3621024" y="2350008"/>
            <a:ext cx="196596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sz="880">
                <a:solidFill>
                  <a:srgbClr val="1B2A3A"/>
                </a:solidFill>
              </a:rPr>
              <a:t>78.255m; 50% ACQ</a:t>
            </a:r>
          </a:p>
        </p:txBody>
      </p:sp>
      <p:sp>
        <p:nvSpPr>
          <p:cNvPr id="20" name="Text 18"/>
          <p:cNvSpPr/>
          <p:nvPr/>
        </p:nvSpPr>
        <p:spPr>
          <a:xfrm>
            <a:off x="5586984" y="2350008"/>
            <a:ext cx="187452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sz="880">
                <a:solidFill>
                  <a:srgbClr val="1B2A3A"/>
                </a:solidFill>
              </a:rPr>
              <a:t>26.085m; 50% ACQ</a:t>
            </a:r>
          </a:p>
        </p:txBody>
      </p:sp>
      <p:sp>
        <p:nvSpPr>
          <p:cNvPr id="21" name="Text 19"/>
          <p:cNvSpPr/>
          <p:nvPr/>
        </p:nvSpPr>
        <p:spPr>
          <a:xfrm>
            <a:off x="7461504" y="2350008"/>
            <a:ext cx="187452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sz="880">
                <a:solidFill>
                  <a:srgbClr val="1B2A3A"/>
                </a:solidFill>
              </a:rPr>
              <a:t>52.17m; 50% ACQ</a:t>
            </a:r>
          </a:p>
        </p:txBody>
      </p:sp>
      <p:sp>
        <p:nvSpPr>
          <p:cNvPr id="22" name="Text 20"/>
          <p:cNvSpPr/>
          <p:nvPr/>
        </p:nvSpPr>
        <p:spPr>
          <a:xfrm>
            <a:off x="9336024" y="2350008"/>
            <a:ext cx="822960" cy="512064"/>
          </a:xfrm>
          <a:prstGeom prst="rect">
            <a:avLst/>
          </a:prstGeom>
          <a:solidFill>
            <a:srgbClr val="DDEFE2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sz="880" b="1">
                <a:solidFill>
                  <a:srgbClr val="1B2A3A"/>
                </a:solidFill>
              </a:rPr>
              <a:t>GREEN</a:t>
            </a:r>
          </a:p>
        </p:txBody>
      </p:sp>
      <p:sp>
        <p:nvSpPr>
          <p:cNvPr id="23" name="Text 21"/>
          <p:cNvSpPr/>
          <p:nvPr/>
        </p:nvSpPr>
        <p:spPr>
          <a:xfrm>
            <a:off x="420624" y="2862072"/>
            <a:ext cx="1234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Delivery shape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1655064" y="2862072"/>
            <a:ext cx="1965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Even/ratable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3621024" y="2862072"/>
            <a:ext cx="1965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Ratable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586984" y="2862072"/>
            <a:ext cx="1874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50-60% Oct-Mar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461504" y="2862072"/>
            <a:ext cx="1874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50-60% Oct-Mar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9336024" y="2862072"/>
            <a:ext cx="822960" cy="512064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B2A3A"/>
                </a:solidFill>
              </a:rPr>
              <a:t>RED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20624" y="3374136"/>
            <a:ext cx="123444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Base term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1655064" y="3374136"/>
            <a:ext cx="196596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10y from First DFCD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3621024" y="3374136"/>
            <a:ext cx="196596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10y from First DFCD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586984" y="3374136"/>
            <a:ext cx="187452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10y from First DFCD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7461504" y="3374136"/>
            <a:ext cx="187452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10y from First DFCD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9336024" y="3374136"/>
            <a:ext cx="822960" cy="512064"/>
          </a:xfrm>
          <a:prstGeom prst="rect">
            <a:avLst/>
          </a:prstGeom>
          <a:solidFill>
            <a:srgbClr val="DDEFE2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B2A3A"/>
                </a:solidFill>
              </a:rPr>
              <a:t>GREEN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420624" y="3886200"/>
            <a:ext cx="1234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Extensions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1655064" y="3886200"/>
            <a:ext cx="1965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None found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3621024" y="3886200"/>
            <a:ext cx="1965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None found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5586984" y="3886200"/>
            <a:ext cx="1874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2 × 5y buyer options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7461504" y="3886200"/>
            <a:ext cx="1874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2 × 5y buyer options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9336024" y="3886200"/>
            <a:ext cx="822960" cy="512064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B2A3A"/>
                </a:solidFill>
              </a:rPr>
              <a:t>RED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420624" y="4398264"/>
            <a:ext cx="123444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Maintenance cap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1655064" y="4398264"/>
            <a:ext cx="196596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7.5% yearly; 25% over 6y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3621024" y="4398264"/>
            <a:ext cx="196596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Same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5586984" y="4398264"/>
            <a:ext cx="187452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Same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7461504" y="4398264"/>
            <a:ext cx="187452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2A3A"/>
                </a:solidFill>
              </a:rPr>
              <a:t>Same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9336024" y="4398264"/>
            <a:ext cx="822960" cy="512064"/>
          </a:xfrm>
          <a:prstGeom prst="rect">
            <a:avLst/>
          </a:prstGeom>
          <a:solidFill>
            <a:srgbClr val="DDEFE2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B2A3A"/>
                </a:solidFill>
              </a:rPr>
              <a:t>GREEN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676656" y="5532120"/>
            <a:ext cx="10607040" cy="475488"/>
          </a:xfrm>
          <a:prstGeom prst="rect">
            <a:avLst/>
          </a:prstGeom>
          <a:solidFill>
            <a:srgbClr val="EEF4F8"/>
          </a:solidFill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120">
                <a:solidFill>
                  <a:srgbClr val="1B2A3A"/>
                </a:solidFill>
              </a:rPr>
              <a:t>Practical modelling: use ACQ as a scale input. Score other numerical terms on a normalised basis; start-up ACQ is 50% of ACQ across all four, while Shell still needs separate JKM/TTF and seasonal shape modelling.</a:t>
            </a:r>
          </a:p>
        </p:txBody>
      </p:sp>
      <p:sp>
        <p:nvSpPr>
          <p:cNvPr id="48" name="Text 46"/>
          <p:cNvSpPr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3"/>
                </a:solidFill>
              </a:rPr>
              <a:t>Driftwood LNG SPA economic-terms comparison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3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Credit, project-start and structural provisions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These terms do not always change gross price, but they affect risk, financing and enforceability.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1920240" cy="52120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Item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2377440" y="1325880"/>
            <a:ext cx="2240280" cy="52120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Vitol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4617720" y="1325880"/>
            <a:ext cx="2240280" cy="52120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Gunvor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858000" y="1325880"/>
            <a:ext cx="4114800" cy="52120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Shell SPA1 / SPA2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0972800" y="1325880"/>
            <a:ext cx="868680" cy="52120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RAG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57200" y="1847088"/>
            <a:ext cx="1920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CP deadline</a:t>
            </a:r>
            <a:endParaRPr lang="en-US" sz="890" dirty="0"/>
          </a:p>
        </p:txBody>
      </p:sp>
      <p:sp>
        <p:nvSpPr>
          <p:cNvPr id="11" name="Text 9"/>
          <p:cNvSpPr/>
          <p:nvPr/>
        </p:nvSpPr>
        <p:spPr>
          <a:xfrm>
            <a:off x="2377440" y="1847088"/>
            <a:ext cx="22402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31 Jul 2022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4617720" y="1847088"/>
            <a:ext cx="22402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31 Dec 2022</a:t>
            </a:r>
            <a:endParaRPr lang="en-US" sz="890" dirty="0"/>
          </a:p>
        </p:txBody>
      </p:sp>
      <p:sp>
        <p:nvSpPr>
          <p:cNvPr id="13" name="Text 11"/>
          <p:cNvSpPr/>
          <p:nvPr/>
        </p:nvSpPr>
        <p:spPr>
          <a:xfrm>
            <a:off x="6858000" y="1847088"/>
            <a:ext cx="41148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31 Jul 2022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10972800" y="1847088"/>
            <a:ext cx="868680" cy="521208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B36B00"/>
                </a:solidFill>
              </a:rPr>
              <a:t>AMBER</a:t>
            </a:r>
            <a:endParaRPr lang="en-US" sz="890" dirty="0"/>
          </a:p>
        </p:txBody>
      </p:sp>
      <p:sp>
        <p:nvSpPr>
          <p:cNvPr id="15" name="Text 13"/>
          <p:cNvSpPr/>
          <p:nvPr/>
        </p:nvSpPr>
        <p:spPr>
          <a:xfrm>
            <a:off x="457200" y="2368296"/>
            <a:ext cx="1920240" cy="52120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Pipeline follow-through</a:t>
            </a:r>
            <a:endParaRPr lang="en-US" sz="890" dirty="0"/>
          </a:p>
        </p:txBody>
      </p:sp>
      <p:sp>
        <p:nvSpPr>
          <p:cNvPr id="16" name="Text 14"/>
          <p:cNvSpPr/>
          <p:nvPr/>
        </p:nvSpPr>
        <p:spPr>
          <a:xfrm>
            <a:off x="2377440" y="2368296"/>
            <a:ext cx="2240280" cy="52120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Express post-CP FNTP effort</a:t>
            </a:r>
            <a:endParaRPr lang="en-US" sz="890" dirty="0"/>
          </a:p>
        </p:txBody>
      </p:sp>
      <p:sp>
        <p:nvSpPr>
          <p:cNvPr id="17" name="Text 15"/>
          <p:cNvSpPr/>
          <p:nvPr/>
        </p:nvSpPr>
        <p:spPr>
          <a:xfrm>
            <a:off x="4617720" y="2368296"/>
            <a:ext cx="2240280" cy="52120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Not same form found</a:t>
            </a:r>
            <a:endParaRPr lang="en-US" sz="890" dirty="0"/>
          </a:p>
        </p:txBody>
      </p:sp>
      <p:sp>
        <p:nvSpPr>
          <p:cNvPr id="18" name="Text 16"/>
          <p:cNvSpPr/>
          <p:nvPr/>
        </p:nvSpPr>
        <p:spPr>
          <a:xfrm>
            <a:off x="6858000" y="2368296"/>
            <a:ext cx="4114800" cy="52120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Not same form found</a:t>
            </a:r>
            <a:endParaRPr lang="en-US" sz="890" dirty="0"/>
          </a:p>
        </p:txBody>
      </p:sp>
      <p:sp>
        <p:nvSpPr>
          <p:cNvPr id="19" name="Text 17"/>
          <p:cNvSpPr/>
          <p:nvPr/>
        </p:nvSpPr>
        <p:spPr>
          <a:xfrm>
            <a:off x="10972800" y="2368296"/>
            <a:ext cx="868680" cy="521208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B36B00"/>
                </a:solidFill>
              </a:rPr>
              <a:t>AMBER</a:t>
            </a:r>
            <a:endParaRPr lang="en-US" sz="890" dirty="0"/>
          </a:p>
        </p:txBody>
      </p:sp>
      <p:sp>
        <p:nvSpPr>
          <p:cNvPr id="20" name="Text 18"/>
          <p:cNvSpPr/>
          <p:nvPr/>
        </p:nvSpPr>
        <p:spPr>
          <a:xfrm>
            <a:off x="457200" y="2889504"/>
            <a:ext cx="1920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Credit support</a:t>
            </a:r>
            <a:endParaRPr lang="en-US" sz="890" dirty="0"/>
          </a:p>
        </p:txBody>
      </p:sp>
      <p:sp>
        <p:nvSpPr>
          <p:cNvPr id="21" name="Text 19"/>
          <p:cNvSpPr/>
          <p:nvPr/>
        </p:nvSpPr>
        <p:spPr>
          <a:xfrm>
            <a:off x="2377440" y="2889504"/>
            <a:ext cx="22402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Named support / TNW / LC mechanics</a:t>
            </a:r>
            <a:endParaRPr lang="en-US" sz="890" dirty="0"/>
          </a:p>
        </p:txBody>
      </p:sp>
      <p:sp>
        <p:nvSpPr>
          <p:cNvPr id="22" name="Text 20"/>
          <p:cNvSpPr/>
          <p:nvPr/>
        </p:nvSpPr>
        <p:spPr>
          <a:xfrm>
            <a:off x="4617720" y="2889504"/>
            <a:ext cx="22402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Named support / TNW / LC mechanics; timing differs</a:t>
            </a:r>
            <a:endParaRPr lang="en-US" sz="890" dirty="0"/>
          </a:p>
        </p:txBody>
      </p:sp>
      <p:sp>
        <p:nvSpPr>
          <p:cNvPr id="23" name="Text 21"/>
          <p:cNvSpPr/>
          <p:nvPr/>
        </p:nvSpPr>
        <p:spPr>
          <a:xfrm>
            <a:off x="6858000" y="2889504"/>
            <a:ext cx="41148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Generic acceptable support</a:t>
            </a:r>
            <a:endParaRPr lang="en-US" sz="890" dirty="0"/>
          </a:p>
        </p:txBody>
      </p:sp>
      <p:sp>
        <p:nvSpPr>
          <p:cNvPr id="24" name="Text 22"/>
          <p:cNvSpPr/>
          <p:nvPr/>
        </p:nvSpPr>
        <p:spPr>
          <a:xfrm>
            <a:off x="10972800" y="2889504"/>
            <a:ext cx="868680" cy="521208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B3261E"/>
                </a:solidFill>
              </a:rPr>
              <a:t>RED</a:t>
            </a:r>
            <a:endParaRPr lang="en-US" sz="890" dirty="0"/>
          </a:p>
        </p:txBody>
      </p:sp>
      <p:sp>
        <p:nvSpPr>
          <p:cNvPr id="25" name="Text 23"/>
          <p:cNvSpPr/>
          <p:nvPr/>
        </p:nvSpPr>
        <p:spPr>
          <a:xfrm>
            <a:off x="457200" y="3410712"/>
            <a:ext cx="1920240" cy="52120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Guaranty cap</a:t>
            </a:r>
            <a:endParaRPr lang="en-US" sz="890" dirty="0"/>
          </a:p>
        </p:txBody>
      </p:sp>
      <p:sp>
        <p:nvSpPr>
          <p:cNvPr id="26" name="Text 24"/>
          <p:cNvSpPr/>
          <p:nvPr/>
        </p:nvSpPr>
        <p:spPr>
          <a:xfrm>
            <a:off x="2377440" y="3410712"/>
            <a:ext cx="2240280" cy="52120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No same capped defined term identified</a:t>
            </a:r>
            <a:endParaRPr lang="en-US" sz="890" dirty="0"/>
          </a:p>
        </p:txBody>
      </p:sp>
      <p:sp>
        <p:nvSpPr>
          <p:cNvPr id="27" name="Text 25"/>
          <p:cNvSpPr/>
          <p:nvPr/>
        </p:nvSpPr>
        <p:spPr>
          <a:xfrm>
            <a:off x="4617720" y="3410712"/>
            <a:ext cx="2240280" cy="52120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Guaranty cap in defined term; amount redacted</a:t>
            </a:r>
            <a:endParaRPr lang="en-US" sz="890" dirty="0"/>
          </a:p>
        </p:txBody>
      </p:sp>
      <p:sp>
        <p:nvSpPr>
          <p:cNvPr id="28" name="Text 26"/>
          <p:cNvSpPr/>
          <p:nvPr/>
        </p:nvSpPr>
        <p:spPr>
          <a:xfrm>
            <a:off x="6858000" y="3410712"/>
            <a:ext cx="4114800" cy="52120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n/a in same form</a:t>
            </a:r>
            <a:endParaRPr lang="en-US" sz="890" dirty="0"/>
          </a:p>
        </p:txBody>
      </p:sp>
      <p:sp>
        <p:nvSpPr>
          <p:cNvPr id="29" name="Text 27"/>
          <p:cNvSpPr/>
          <p:nvPr/>
        </p:nvSpPr>
        <p:spPr>
          <a:xfrm>
            <a:off x="10972800" y="3410712"/>
            <a:ext cx="868680" cy="521208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B36B00"/>
                </a:solidFill>
              </a:rPr>
              <a:t>AMBER</a:t>
            </a:r>
            <a:endParaRPr lang="en-US" sz="890" dirty="0"/>
          </a:p>
        </p:txBody>
      </p:sp>
      <p:sp>
        <p:nvSpPr>
          <p:cNvPr id="30" name="Text 28"/>
          <p:cNvSpPr/>
          <p:nvPr/>
        </p:nvSpPr>
        <p:spPr>
          <a:xfrm>
            <a:off x="457200" y="3931920"/>
            <a:ext cx="1920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Multiple-SPA coordination</a:t>
            </a:r>
            <a:endParaRPr lang="en-US" sz="890" dirty="0"/>
          </a:p>
        </p:txBody>
      </p:sp>
      <p:sp>
        <p:nvSpPr>
          <p:cNvPr id="31" name="Text 29"/>
          <p:cNvSpPr/>
          <p:nvPr/>
        </p:nvSpPr>
        <p:spPr>
          <a:xfrm>
            <a:off x="2377440" y="3931920"/>
            <a:ext cx="22402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n/a</a:t>
            </a:r>
            <a:endParaRPr lang="en-US" sz="890" dirty="0"/>
          </a:p>
        </p:txBody>
      </p:sp>
      <p:sp>
        <p:nvSpPr>
          <p:cNvPr id="32" name="Text 30"/>
          <p:cNvSpPr/>
          <p:nvPr/>
        </p:nvSpPr>
        <p:spPr>
          <a:xfrm>
            <a:off x="4617720" y="3931920"/>
            <a:ext cx="22402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n/a</a:t>
            </a:r>
            <a:endParaRPr lang="en-US" sz="890" dirty="0"/>
          </a:p>
        </p:txBody>
      </p:sp>
      <p:sp>
        <p:nvSpPr>
          <p:cNvPr id="33" name="Text 31"/>
          <p:cNvSpPr/>
          <p:nvPr/>
        </p:nvSpPr>
        <p:spPr>
          <a:xfrm>
            <a:off x="6858000" y="3931920"/>
            <a:ext cx="41148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Present; separate caps/no cross-default/consolidated arbitration option</a:t>
            </a:r>
            <a:endParaRPr lang="en-US" sz="890" dirty="0"/>
          </a:p>
        </p:txBody>
      </p:sp>
      <p:sp>
        <p:nvSpPr>
          <p:cNvPr id="34" name="Text 32"/>
          <p:cNvSpPr/>
          <p:nvPr/>
        </p:nvSpPr>
        <p:spPr>
          <a:xfrm>
            <a:off x="10972800" y="3931920"/>
            <a:ext cx="868680" cy="521208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B3261E"/>
                </a:solidFill>
              </a:rPr>
              <a:t>RED</a:t>
            </a:r>
            <a:endParaRPr lang="en-US" sz="890" dirty="0"/>
          </a:p>
        </p:txBody>
      </p:sp>
      <p:sp>
        <p:nvSpPr>
          <p:cNvPr id="35" name="Text 33"/>
          <p:cNvSpPr/>
          <p:nvPr/>
        </p:nvSpPr>
        <p:spPr>
          <a:xfrm>
            <a:off x="457200" y="4453128"/>
            <a:ext cx="1920240" cy="52120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Liability caps</a:t>
            </a:r>
            <a:endParaRPr lang="en-US" sz="890" dirty="0"/>
          </a:p>
        </p:txBody>
      </p:sp>
      <p:sp>
        <p:nvSpPr>
          <p:cNvPr id="36" name="Text 34"/>
          <p:cNvSpPr/>
          <p:nvPr/>
        </p:nvSpPr>
        <p:spPr>
          <a:xfrm>
            <a:off x="2377440" y="4453128"/>
            <a:ext cx="2240280" cy="52120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Present; redacted</a:t>
            </a:r>
            <a:endParaRPr lang="en-US" sz="890" dirty="0"/>
          </a:p>
        </p:txBody>
      </p:sp>
      <p:sp>
        <p:nvSpPr>
          <p:cNvPr id="37" name="Text 35"/>
          <p:cNvSpPr/>
          <p:nvPr/>
        </p:nvSpPr>
        <p:spPr>
          <a:xfrm>
            <a:off x="4617720" y="4453128"/>
            <a:ext cx="2240280" cy="52120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Present; redacted</a:t>
            </a:r>
            <a:endParaRPr lang="en-US" sz="890" dirty="0"/>
          </a:p>
        </p:txBody>
      </p:sp>
      <p:sp>
        <p:nvSpPr>
          <p:cNvPr id="38" name="Text 36"/>
          <p:cNvSpPr/>
          <p:nvPr/>
        </p:nvSpPr>
        <p:spPr>
          <a:xfrm>
            <a:off x="6858000" y="4453128"/>
            <a:ext cx="4114800" cy="52120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Present; redacted</a:t>
            </a:r>
            <a:endParaRPr lang="en-US" sz="890" dirty="0"/>
          </a:p>
        </p:txBody>
      </p:sp>
      <p:sp>
        <p:nvSpPr>
          <p:cNvPr id="39" name="Text 37"/>
          <p:cNvSpPr/>
          <p:nvPr/>
        </p:nvSpPr>
        <p:spPr>
          <a:xfrm>
            <a:off x="10972800" y="4453128"/>
            <a:ext cx="868680" cy="521208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B36B00"/>
                </a:solidFill>
              </a:rPr>
              <a:t>AMBER</a:t>
            </a:r>
            <a:endParaRPr lang="en-US" sz="890" dirty="0"/>
          </a:p>
        </p:txBody>
      </p:sp>
      <p:sp>
        <p:nvSpPr>
          <p:cNvPr id="40" name="Text 38"/>
          <p:cNvSpPr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3"/>
                </a:solidFill>
              </a:rPr>
              <a:t>Driftwood LNG SPA economic-terms comparison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3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Force majeure and supply-risk economics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 core Upstream FM election appears common; allocation nuances still merit blackline review.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2057400" cy="65836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Item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651760" y="1325880"/>
            <a:ext cx="4343400" cy="65836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Observed treatment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995160" y="1325880"/>
            <a:ext cx="822960" cy="65836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18120" y="1325880"/>
            <a:ext cx="3337560" cy="65836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Why it matters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984248"/>
            <a:ext cx="2057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Standard FM architecture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51760" y="1984248"/>
            <a:ext cx="4343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Broadly similar; exact exceptions and notice wording require blackline.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995160" y="1984248"/>
            <a:ext cx="822960" cy="658368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B36B00"/>
                </a:solidFill>
              </a:rPr>
              <a:t>AMBER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18120" y="1984248"/>
            <a:ext cx="3337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Determines excuse from performance and remedy exposure.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642616"/>
            <a:ext cx="205740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Upstream FM HH election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51760" y="2642616"/>
            <a:ext cx="434340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Buyer can elect affected upstream-FM cargoes on HH basis across all four.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95160" y="2642616"/>
            <a:ext cx="822960" cy="658368"/>
          </a:xfrm>
          <a:prstGeom prst="rect">
            <a:avLst/>
          </a:prstGeom>
          <a:solidFill>
            <a:srgbClr val="DDEFE2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GREEN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18120" y="2642616"/>
            <a:ext cx="3337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Creates a common replacement-price/supply mitigant.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300984"/>
            <a:ext cx="2057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Upstream FM cure / future reliance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51760" y="3300984"/>
            <a:ext cx="4343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Corrected: Sec. 14.3.7 wording appears in all four, not Vitol only.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95160" y="3300984"/>
            <a:ext cx="822960" cy="658368"/>
          </a:xfrm>
          <a:prstGeom prst="rect">
            <a:avLst/>
          </a:prstGeom>
          <a:solidFill>
            <a:srgbClr val="DDEFE2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GREEN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18120" y="3300984"/>
            <a:ext cx="3337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Constrains repeated reliance after cure/alternative procurement.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3959352"/>
            <a:ext cx="205740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Foundation customer pro-rata allocation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51760" y="3959352"/>
            <a:ext cx="434340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Pure pro-rata allocation by AACQ appears economically equivalent.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95160" y="3959352"/>
            <a:ext cx="822960" cy="658368"/>
          </a:xfrm>
          <a:prstGeom prst="rect">
            <a:avLst/>
          </a:prstGeom>
          <a:solidFill>
            <a:srgbClr val="DDEFE2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GREEN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18120" y="3959352"/>
            <a:ext cx="3337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Controls shortage allocation among foundation customers.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4617720"/>
            <a:ext cx="2057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HH-basis carve-out interaction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51760" y="4617720"/>
            <a:ext cx="4343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Kept separate: Shell wording/interaction may differ and needs blackline.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95160" y="4617720"/>
            <a:ext cx="822960" cy="658368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B36B00"/>
                </a:solidFill>
              </a:rPr>
              <a:t>AMBER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18120" y="4617720"/>
            <a:ext cx="3337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Can matter in shortage scenarios with HH-basis cargoes.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3"/>
                </a:solidFill>
              </a:rPr>
              <a:t>Driftwood LNG SPA economic-terms comparison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3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AMBER worklist: do not assume equality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These rows are not resolved as economically identical. Treat them as follow-up checks.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324D"/>
                </a:solidFill>
              </a:rPr>
              <a:t>Priority follow-up items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685800" y="1563624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362456" y="154533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E293B"/>
                </a:solidFill>
              </a:rPr>
              <a:t>CP timing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3749040" y="154533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Gunvor has a later CP deadline; effort wording also differs.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685800" y="1901952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1362456" y="18836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E293B"/>
                </a:solidFill>
              </a:rPr>
              <a:t>Second DFCD cancellation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3749040" y="188366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Vitol-specific wording noted; absence elsewhere needs blackline confirmation.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685800" y="2240280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1362456" y="22219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E293B"/>
                </a:solidFill>
              </a:rPr>
              <a:t>Pricing month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3749040" y="2221992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Asymmetric redactions could hide hedge-timing differences.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685800" y="2578608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1362456" y="2560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E293B"/>
                </a:solidFill>
              </a:rPr>
              <a:t>Price constants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3749040" y="25603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Slopes, discounts and floors are redacted in all contracts.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685800" y="2916936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1362456" y="28986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E293B"/>
                </a:solidFill>
              </a:rPr>
              <a:t>Liability caps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3749040" y="2898648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Architecture is visible, but cap amounts are redacted.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685800" y="3255264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1362456" y="32369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E293B"/>
                </a:solidFill>
              </a:rPr>
              <a:t>Alternate source delivery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3749040" y="323697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Same concept; conditions differ across forms.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685800" y="3593592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1362456" y="357530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E293B"/>
                </a:solidFill>
              </a:rPr>
              <a:t>Assignment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3749040" y="357530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Gunvor has broader wording around contractual entitlement to LNG.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685800" y="388620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324D"/>
                </a:solidFill>
              </a:rPr>
              <a:t>Secondary follow-up items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85800" y="4215384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1362456" y="419709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E293B"/>
                </a:solidFill>
              </a:rPr>
              <a:t>Off-spec remedies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3749040" y="419709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Likely similar, but remedy economics should be blacklined.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685800" y="4553712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1362456" y="45354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E293B"/>
                </a:solidFill>
              </a:rPr>
              <a:t>Laytime/services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3749040" y="453542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Common cost class; detailed charge wording may differ.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685800" y="4892040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35" name="Text 33"/>
          <p:cNvSpPr/>
          <p:nvPr/>
        </p:nvSpPr>
        <p:spPr>
          <a:xfrm>
            <a:off x="1362456" y="487375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E293B"/>
                </a:solidFill>
              </a:rPr>
              <a:t>ESG/emissions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3749040" y="4873752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Shell has stronger data-access wording; Vitol has buyer-cost/incentive language.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685800" y="5230368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1362456" y="52120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E293B"/>
                </a:solidFill>
              </a:rPr>
              <a:t>HSEC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3749040" y="521208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Gunvor appears to have extra HSEC/human-rights-style layer.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685800" y="5568696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41" name="Text 39"/>
          <p:cNvSpPr/>
          <p:nvPr/>
        </p:nvSpPr>
        <p:spPr>
          <a:xfrm>
            <a:off x="1362456" y="55504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E293B"/>
                </a:solidFill>
              </a:rPr>
              <a:t>Sanctions/trade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3749040" y="5550408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Same risk class; detailed wording should be checked.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685800" y="5907024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1362456" y="588873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E293B"/>
                </a:solidFill>
              </a:rPr>
              <a:t>Disputes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3749040" y="588873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Shell’s twin-SPA structure affects consolidation and procedural treatment.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3"/>
                </a:solidFill>
              </a:rPr>
              <a:t>Driftwood LNG SPA economic-terms comparison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3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Valuation model set-up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Recommended object model for first-pass valuation; ACQ is used as contract scale, not as a RAG difference.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325880"/>
            <a:ext cx="1325880" cy="694944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Contract object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1764792" y="1325880"/>
            <a:ext cx="2697480" cy="694944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Core index exposure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4462272" y="1325880"/>
            <a:ext cx="2194560" cy="694944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Volume / shape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656832" y="1325880"/>
            <a:ext cx="1600200" cy="694944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Term assumption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8257032" y="1325880"/>
            <a:ext cx="2743200" cy="694944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Notes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38912" y="2020824"/>
            <a:ext cx="13258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Vitol</a:t>
            </a:r>
            <a:endParaRPr lang="en-US" sz="890" dirty="0"/>
          </a:p>
        </p:txBody>
      </p:sp>
      <p:sp>
        <p:nvSpPr>
          <p:cNvPr id="11" name="Text 9"/>
          <p:cNvSpPr/>
          <p:nvPr/>
        </p:nvSpPr>
        <p:spPr>
          <a:xfrm>
            <a:off x="1764792" y="2020824"/>
            <a:ext cx="26974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JKM + TTF blend; multiplier-over-sum formula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4462272" y="2020824"/>
            <a:ext cx="21945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156.51m MMBtu/yr; even/ratable</a:t>
            </a:r>
            <a:endParaRPr lang="en-US" sz="890" dirty="0"/>
          </a:p>
        </p:txBody>
      </p:sp>
      <p:sp>
        <p:nvSpPr>
          <p:cNvPr id="13" name="Text 11"/>
          <p:cNvSpPr/>
          <p:nvPr/>
        </p:nvSpPr>
        <p:spPr>
          <a:xfrm>
            <a:off x="6656832" y="2020824"/>
            <a:ext cx="16002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10y base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8257032" y="2020824"/>
            <a:ext cx="27432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Model price constants as scenarios because they are redacted.</a:t>
            </a:r>
            <a:endParaRPr lang="en-US" sz="890" dirty="0"/>
          </a:p>
        </p:txBody>
      </p:sp>
      <p:sp>
        <p:nvSpPr>
          <p:cNvPr id="15" name="Text 13"/>
          <p:cNvSpPr/>
          <p:nvPr/>
        </p:nvSpPr>
        <p:spPr>
          <a:xfrm>
            <a:off x="438912" y="2715768"/>
            <a:ext cx="1325880" cy="69494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Gunvor</a:t>
            </a:r>
            <a:endParaRPr lang="en-US" sz="890" dirty="0"/>
          </a:p>
        </p:txBody>
      </p:sp>
      <p:sp>
        <p:nvSpPr>
          <p:cNvPr id="16" name="Text 14"/>
          <p:cNvSpPr/>
          <p:nvPr/>
        </p:nvSpPr>
        <p:spPr>
          <a:xfrm>
            <a:off x="1764792" y="2715768"/>
            <a:ext cx="2697480" cy="69494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Separately weighted JKM + TTF legs</a:t>
            </a:r>
            <a:endParaRPr lang="en-US" sz="890" dirty="0"/>
          </a:p>
        </p:txBody>
      </p:sp>
      <p:sp>
        <p:nvSpPr>
          <p:cNvPr id="17" name="Text 15"/>
          <p:cNvSpPr/>
          <p:nvPr/>
        </p:nvSpPr>
        <p:spPr>
          <a:xfrm>
            <a:off x="4462272" y="2715768"/>
            <a:ext cx="2194560" cy="69494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156.51m MMBtu/yr; ratable</a:t>
            </a:r>
            <a:endParaRPr lang="en-US" sz="890" dirty="0"/>
          </a:p>
        </p:txBody>
      </p:sp>
      <p:sp>
        <p:nvSpPr>
          <p:cNvPr id="18" name="Text 16"/>
          <p:cNvSpPr/>
          <p:nvPr/>
        </p:nvSpPr>
        <p:spPr>
          <a:xfrm>
            <a:off x="6656832" y="2715768"/>
            <a:ext cx="1600200" cy="69494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10y base</a:t>
            </a:r>
            <a:endParaRPr lang="en-US" sz="890" dirty="0"/>
          </a:p>
        </p:txBody>
      </p:sp>
      <p:sp>
        <p:nvSpPr>
          <p:cNvPr id="19" name="Text 17"/>
          <p:cNvSpPr/>
          <p:nvPr/>
        </p:nvSpPr>
        <p:spPr>
          <a:xfrm>
            <a:off x="8257032" y="2715768"/>
            <a:ext cx="2743200" cy="69494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Use ECB FX for TTF leg; credit support differs.</a:t>
            </a:r>
            <a:endParaRPr lang="en-US" sz="890" dirty="0"/>
          </a:p>
        </p:txBody>
      </p:sp>
      <p:sp>
        <p:nvSpPr>
          <p:cNvPr id="20" name="Text 18"/>
          <p:cNvSpPr/>
          <p:nvPr/>
        </p:nvSpPr>
        <p:spPr>
          <a:xfrm>
            <a:off x="438912" y="3410712"/>
            <a:ext cx="13258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Shell SPA1</a:t>
            </a:r>
            <a:endParaRPr lang="en-US" sz="890" dirty="0"/>
          </a:p>
        </p:txBody>
      </p:sp>
      <p:sp>
        <p:nvSpPr>
          <p:cNvPr id="21" name="Text 19"/>
          <p:cNvSpPr/>
          <p:nvPr/>
        </p:nvSpPr>
        <p:spPr>
          <a:xfrm>
            <a:off x="1764792" y="3410712"/>
            <a:ext cx="26974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JKM-only</a:t>
            </a:r>
            <a:endParaRPr lang="en-US" sz="890" dirty="0"/>
          </a:p>
        </p:txBody>
      </p:sp>
      <p:sp>
        <p:nvSpPr>
          <p:cNvPr id="22" name="Text 20"/>
          <p:cNvSpPr/>
          <p:nvPr/>
        </p:nvSpPr>
        <p:spPr>
          <a:xfrm>
            <a:off x="4462272" y="3410712"/>
            <a:ext cx="21945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52.17m MMBtu/yr; winter-weighted</a:t>
            </a:r>
            <a:endParaRPr lang="en-US" sz="890" dirty="0"/>
          </a:p>
        </p:txBody>
      </p:sp>
      <p:sp>
        <p:nvSpPr>
          <p:cNvPr id="23" name="Text 21"/>
          <p:cNvSpPr/>
          <p:nvPr/>
        </p:nvSpPr>
        <p:spPr>
          <a:xfrm>
            <a:off x="6656832" y="3410712"/>
            <a:ext cx="16002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10y + 2 extensions</a:t>
            </a:r>
            <a:endParaRPr lang="en-US" sz="890" dirty="0"/>
          </a:p>
        </p:txBody>
      </p:sp>
      <p:sp>
        <p:nvSpPr>
          <p:cNvPr id="24" name="Text 22"/>
          <p:cNvSpPr/>
          <p:nvPr/>
        </p:nvSpPr>
        <p:spPr>
          <a:xfrm>
            <a:off x="8257032" y="3410712"/>
            <a:ext cx="27432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Model extension options and seasonal JKM exposure.</a:t>
            </a:r>
            <a:endParaRPr lang="en-US" sz="890" dirty="0"/>
          </a:p>
        </p:txBody>
      </p:sp>
      <p:sp>
        <p:nvSpPr>
          <p:cNvPr id="25" name="Text 23"/>
          <p:cNvSpPr/>
          <p:nvPr/>
        </p:nvSpPr>
        <p:spPr>
          <a:xfrm>
            <a:off x="438912" y="4105656"/>
            <a:ext cx="1325880" cy="69494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Shell SPA2</a:t>
            </a:r>
            <a:endParaRPr lang="en-US" sz="890" dirty="0"/>
          </a:p>
        </p:txBody>
      </p:sp>
      <p:sp>
        <p:nvSpPr>
          <p:cNvPr id="26" name="Text 24"/>
          <p:cNvSpPr/>
          <p:nvPr/>
        </p:nvSpPr>
        <p:spPr>
          <a:xfrm>
            <a:off x="1764792" y="4105656"/>
            <a:ext cx="2697480" cy="69494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TTF-only</a:t>
            </a:r>
            <a:endParaRPr lang="en-US" sz="890" dirty="0"/>
          </a:p>
        </p:txBody>
      </p:sp>
      <p:sp>
        <p:nvSpPr>
          <p:cNvPr id="27" name="Text 25"/>
          <p:cNvSpPr/>
          <p:nvPr/>
        </p:nvSpPr>
        <p:spPr>
          <a:xfrm>
            <a:off x="4462272" y="4105656"/>
            <a:ext cx="2194560" cy="69494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104.34m MMBtu/yr; winter-weighted</a:t>
            </a:r>
            <a:endParaRPr lang="en-US" sz="890" dirty="0"/>
          </a:p>
        </p:txBody>
      </p:sp>
      <p:sp>
        <p:nvSpPr>
          <p:cNvPr id="28" name="Text 26"/>
          <p:cNvSpPr/>
          <p:nvPr/>
        </p:nvSpPr>
        <p:spPr>
          <a:xfrm>
            <a:off x="6656832" y="4105656"/>
            <a:ext cx="1600200" cy="69494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10y + 2 extensions</a:t>
            </a:r>
            <a:endParaRPr lang="en-US" sz="890" dirty="0"/>
          </a:p>
        </p:txBody>
      </p:sp>
      <p:sp>
        <p:nvSpPr>
          <p:cNvPr id="29" name="Text 27"/>
          <p:cNvSpPr/>
          <p:nvPr/>
        </p:nvSpPr>
        <p:spPr>
          <a:xfrm>
            <a:off x="8257032" y="4105656"/>
            <a:ext cx="2743200" cy="69494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</a:rPr>
              <a:t>Use Bloomberg/Reuters FX; link to SPA1 for corporate context only.</a:t>
            </a:r>
            <a:endParaRPr lang="en-US" sz="890" dirty="0"/>
          </a:p>
        </p:txBody>
      </p:sp>
      <p:sp>
        <p:nvSpPr>
          <p:cNvPr id="30" name="Text 28"/>
          <p:cNvSpPr/>
          <p:nvPr/>
        </p:nvSpPr>
        <p:spPr>
          <a:xfrm>
            <a:off x="658368" y="5120640"/>
            <a:ext cx="10744200" cy="566928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</a:rPr>
              <a:t>Minimum risk factors: JKM, TTF, HH, EUR/USD or TTF USD conversion source, JKM/TTF correlation, seasonal spreads, shipping/destination value, credit/support cost, FM/DoP/shortfall tail scenarios, extension-option exercise boundary.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3"/>
                </a:solidFill>
              </a:rPr>
              <a:t>Driftwood LNG SPA economic-terms comparison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3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A: project start, term and volume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Condensed row-level inventory from the merged corrected MD.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16736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B2A3A"/>
                </a:solidFill>
              </a:rPr>
              <a:t>GREEN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1353312" y="12984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A3A"/>
                </a:solidFill>
              </a:rPr>
              <a:t>Seller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94760" y="129844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A3A"/>
                </a:solidFill>
              </a:rPr>
              <a:t>Driftwood LNG LLC across all four.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640080" y="1709928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B2A3A"/>
                </a:solidFill>
              </a:rPr>
              <a:t>AMBER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1353312" y="1691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A3A"/>
                </a:solidFill>
              </a:rPr>
              <a:t>Buyer identity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794760" y="169164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A3A"/>
                </a:solidFill>
              </a:rPr>
              <a:t>Counterparty differs; credit row scores the economic impact.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566928" cy="182880"/>
          </a:xfrm>
          <a:prstGeom prst="rect">
            <a:avLst/>
          </a:prstGeom>
          <a:solidFill>
            <a:srgbClr val="E6E6E6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r>
              <a:rPr sz="760" b="1">
                <a:solidFill>
                  <a:srgbClr val="333333"/>
                </a:solidFill>
              </a:rPr>
              <a:t>N/A</a:t>
            </a:r>
          </a:p>
        </p:txBody>
      </p:sp>
      <p:sp>
        <p:nvSpPr>
          <p:cNvPr id="12" name="Text 10"/>
          <p:cNvSpPr/>
          <p:nvPr/>
        </p:nvSpPr>
        <p:spPr>
          <a:xfrm>
            <a:off x="1353312" y="20848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850" b="0">
                <a:solidFill>
                  <a:srgbClr val="334155"/>
                </a:solidFill>
                <a:latin typeface="Aptos"/>
              </a:rPr>
              <a:t>Date of signature</a:t>
            </a:r>
          </a:p>
          <a:p>
            <a:r>
              <a:rPr sz="850" b="0">
                <a:solidFill>
                  <a:srgbClr val="334155"/>
                </a:solidFill>
                <a:latin typeface="Aptos"/>
              </a:rPr>
              <a:t>/ Effective Date</a:t>
            </a:r>
          </a:p>
        </p:txBody>
      </p:sp>
      <p:sp>
        <p:nvSpPr>
          <p:cNvPr id="13" name="Text 11"/>
          <p:cNvSpPr/>
          <p:nvPr/>
        </p:nvSpPr>
        <p:spPr>
          <a:xfrm>
            <a:off x="3794760" y="208483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850" b="0">
                <a:solidFill>
                  <a:srgbClr val="334155"/>
                </a:solidFill>
                <a:latin typeface="Aptos"/>
              </a:rPr>
              <a:t>Signature page says executed as of date first above written: Gunvor 27 May 2021; Vitol 2 Jun 2021; Shell SPA1/2 29 Jul 2021.</a:t>
            </a:r>
          </a:p>
        </p:txBody>
      </p:sp>
      <p:sp>
        <p:nvSpPr>
          <p:cNvPr id="14" name="Text 12"/>
          <p:cNvSpPr/>
          <p:nvPr/>
        </p:nvSpPr>
        <p:spPr>
          <a:xfrm>
            <a:off x="640080" y="2496312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B2A3A"/>
                </a:solidFill>
              </a:rPr>
              <a:t>AMBER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353312" y="24780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A3A"/>
                </a:solidFill>
              </a:rPr>
              <a:t>CP substance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794760" y="2478024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A3A"/>
                </a:solidFill>
              </a:rPr>
              <a:t>Same FID concept; drafting not identical.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640080" y="2889504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B2A3A"/>
                </a:solidFill>
              </a:rPr>
              <a:t>AMBER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1353312" y="287121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A3A"/>
                </a:solidFill>
              </a:rPr>
              <a:t>CP deadline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794760" y="287121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A3A"/>
                </a:solidFill>
              </a:rPr>
              <a:t>Gunvor later deadline; effort wording differs.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640080" y="3282696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B2A3A"/>
                </a:solidFill>
              </a:rPr>
              <a:t>AMBER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1353312" y="32644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A3A"/>
                </a:solidFill>
              </a:rPr>
              <a:t>Pipeline follow-through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794760" y="326440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A3A"/>
                </a:solidFill>
              </a:rPr>
              <a:t>Vitol has explicit post-CP pipeline FNTP effort.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640080" y="3675888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B2A3A"/>
                </a:solidFill>
              </a:rPr>
              <a:t>GREEN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1353312" y="3657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A3A"/>
                </a:solidFill>
              </a:rPr>
              <a:t>Base term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794760" y="365760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A3A"/>
                </a:solidFill>
              </a:rPr>
              <a:t>10 years from First DFCD.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640080" y="4069080"/>
            <a:ext cx="566928" cy="182880"/>
          </a:xfrm>
          <a:prstGeom prst="rect">
            <a:avLst/>
          </a:prstGeom>
          <a:solidFill>
            <a:srgbClr val="F8D8D5"/>
          </a:solidFill>
          <a:ln>
            <a:solidFill>
              <a:srgbClr val="B3261E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B2A3A"/>
                </a:solidFill>
              </a:rPr>
              <a:t>RED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1353312" y="40507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A3A"/>
                </a:solidFill>
              </a:rPr>
              <a:t>Extensions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794760" y="405079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A3A"/>
                </a:solidFill>
              </a:rPr>
              <a:t>Shell only: 2 × 5-year buyer options.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640080" y="4462272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B2A3A"/>
                </a:solidFill>
              </a:rPr>
              <a:t>GREEN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1353312" y="44439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A3A"/>
                </a:solidFill>
              </a:rPr>
              <a:t>First DFCD delay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794760" y="4443984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A3A"/>
                </a:solidFill>
              </a:rPr>
              <a:t>Similar project-delay termination protection.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640080" y="4855464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B2A3A"/>
                </a:solidFill>
              </a:rPr>
              <a:t>AMBER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1353312" y="48371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A3A"/>
                </a:solidFill>
              </a:rPr>
              <a:t>Second DFCD delay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794760" y="483717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A3A"/>
                </a:solidFill>
              </a:rPr>
              <a:t>Potential Vitol-specific Plant 2 cancellation wording.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640080" y="5248656"/>
            <a:ext cx="566928" cy="182880"/>
          </a:xfrm>
          <a:prstGeom prst="rect">
            <a:avLst/>
          </a:prstGeom>
          <a:solidFill>
            <a:srgbClr val="E6E6E6"/>
          </a:solidFill>
          <a:ln>
            <a:solidFill>
              <a:srgbClr val="B3261E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r>
              <a:rPr sz="760" b="1">
                <a:solidFill>
                  <a:srgbClr val="333333"/>
                </a:solidFill>
              </a:rPr>
              <a:t>N/A</a:t>
            </a:r>
          </a:p>
        </p:txBody>
      </p:sp>
      <p:sp>
        <p:nvSpPr>
          <p:cNvPr id="36" name="Text 34"/>
          <p:cNvSpPr/>
          <p:nvPr/>
        </p:nvSpPr>
        <p:spPr>
          <a:xfrm>
            <a:off x="1353312" y="5230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A3A"/>
                </a:solidFill>
              </a:rPr>
              <a:t>ACQ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794760" y="523036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840">
                <a:solidFill>
                  <a:srgbClr val="1B2A3A"/>
                </a:solidFill>
              </a:rPr>
              <a:t>Contract scale input: Vitol/Gunvor 156.51m; Shell 52.17m + 104.34m.</a:t>
            </a:r>
          </a:p>
        </p:txBody>
      </p:sp>
      <p:sp>
        <p:nvSpPr>
          <p:cNvPr id="38" name="Text 36"/>
          <p:cNvSpPr/>
          <p:nvPr/>
        </p:nvSpPr>
        <p:spPr>
          <a:xfrm>
            <a:off x="640080" y="5641848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B3261E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r>
              <a:rPr sz="760" b="1">
                <a:solidFill>
                  <a:srgbClr val="2E7D32"/>
                </a:solidFill>
              </a:rPr>
              <a:t>GREEN</a:t>
            </a:r>
          </a:p>
        </p:txBody>
      </p:sp>
      <p:sp>
        <p:nvSpPr>
          <p:cNvPr id="39" name="Text 37"/>
          <p:cNvSpPr/>
          <p:nvPr/>
        </p:nvSpPr>
        <p:spPr>
          <a:xfrm>
            <a:off x="1353312" y="5623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A3A"/>
                </a:solidFill>
              </a:rPr>
              <a:t>Start-up ACQ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794760" y="562356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840">
                <a:solidFill>
                  <a:srgbClr val="1B2A3A"/>
                </a:solidFill>
              </a:rPr>
              <a:t>Same half-ramp logic: 50% of ACQ in each contract.</a:t>
            </a:r>
          </a:p>
        </p:txBody>
      </p:sp>
      <p:sp>
        <p:nvSpPr>
          <p:cNvPr id="41" name="Text 39"/>
          <p:cNvSpPr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3"/>
                </a:solidFill>
              </a:rPr>
              <a:t>Driftwood LNG SPA economic-terms comparison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3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B: scheduling, delivery and pricing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Condensed row-level inventory from the merged corrected MD.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16736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1353312" y="12984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Proration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94760" y="129844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Same first/final year treatment.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640080" y="1709928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1353312" y="1691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AACQ adjustments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794760" y="169164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Same annual volume-accounting framework.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1353312" y="20848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Round-up/down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794760" y="208483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Cargo-lot rounding; not a swing right.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640080" y="2496312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353312" y="24780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Maintenance cap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794760" y="2478024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7.5% of ACQ annually; 25% over six years.</a:t>
            </a:r>
          </a:p>
        </p:txBody>
      </p:sp>
      <p:sp>
        <p:nvSpPr>
          <p:cNvPr id="17" name="Text 15"/>
          <p:cNvSpPr/>
          <p:nvPr/>
        </p:nvSpPr>
        <p:spPr>
          <a:xfrm>
            <a:off x="640080" y="2889504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1353312" y="287121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Buyer volume flex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794760" y="287121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No broad discretionary swing right detected.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640080" y="3282696"/>
            <a:ext cx="566928" cy="182880"/>
          </a:xfrm>
          <a:prstGeom prst="rect">
            <a:avLst/>
          </a:prstGeom>
          <a:solidFill>
            <a:srgbClr val="F8D8D5"/>
          </a:solidFill>
          <a:ln>
            <a:solidFill>
              <a:srgbClr val="B3261E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261E"/>
                </a:solidFill>
              </a:rPr>
              <a:t>RED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1353312" y="32644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Seasonality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794760" y="326440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Shell winter tranches; Vitol/Gunvor ratable.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640080" y="3675888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1353312" y="3657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ADP/NDS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794760" y="365760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Same process; Shell shape constraints matter.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640080" y="4069080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1353312" y="40507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Tanker change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794760" y="405079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Operationally equivalent alternative/change tanker rights.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640080" y="4462272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1353312" y="44439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FOB delivery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794760" y="4443984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Driftwood LNG Terminal, flange-to-flange.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640080" y="4855464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1353312" y="48371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Title/risk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794760" y="483717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Pass at delivery point.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640080" y="5248656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1353312" y="5230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Destination flex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794760" y="523036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Broad buyer destination flexibility subject to law.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640080" y="5641848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1353312" y="5623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Alternate source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794760" y="562356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Same concept; different conditions.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3"/>
                </a:solidFill>
              </a:rPr>
              <a:t>Driftwood LNG SPA economic-terms comparison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3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C: pricing, payment and remedies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Condensed row-level inventory from the merged corrected MD.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16736"/>
            <a:ext cx="566928" cy="182880"/>
          </a:xfrm>
          <a:prstGeom prst="rect">
            <a:avLst/>
          </a:prstGeom>
          <a:solidFill>
            <a:srgbClr val="F8D8D5"/>
          </a:solidFill>
          <a:ln>
            <a:solidFill>
              <a:srgbClr val="B3261E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261E"/>
                </a:solidFill>
              </a:rPr>
              <a:t>RED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1353312" y="12984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Main CSP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94760" y="129844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Different formula structures and index exposures.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640080" y="1709928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1353312" y="1691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Price constants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794760" y="169164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Slopes, discounts and floors are redacted in all.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1353312" y="20848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JKM window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794760" y="208483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Appears equivalent where JKM applies.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640080" y="2496312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353312" y="24780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Pricing month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794760" y="2478024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Asymmetric redactions; do not assume equality.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640080" y="2889504"/>
            <a:ext cx="566928" cy="182880"/>
          </a:xfrm>
          <a:prstGeom prst="rect">
            <a:avLst/>
          </a:prstGeom>
          <a:solidFill>
            <a:srgbClr val="F8D8D5"/>
          </a:solidFill>
          <a:ln>
            <a:solidFill>
              <a:srgbClr val="B3261E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261E"/>
                </a:solidFill>
              </a:rPr>
              <a:t>RED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1353312" y="287121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TTF FX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794760" y="287121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Gunvor ECB; Vitol/Shell Bloomberg/Reuters 16:00 London.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640080" y="3282696"/>
            <a:ext cx="566928" cy="182880"/>
          </a:xfrm>
          <a:prstGeom prst="rect">
            <a:avLst/>
          </a:prstGeom>
          <a:solidFill>
            <a:srgbClr val="F8D8D5"/>
          </a:solidFill>
          <a:ln>
            <a:solidFill>
              <a:srgbClr val="B3261E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261E"/>
                </a:solidFill>
              </a:rPr>
              <a:t>RED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1353312" y="32644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900" b="0">
                <a:solidFill>
                  <a:srgbClr val="334155"/>
                </a:solidFill>
                <a:latin typeface="Aptos"/>
              </a:rPr>
              <a:t>Extension formula</a:t>
            </a:r>
          </a:p>
        </p:txBody>
      </p:sp>
      <p:sp>
        <p:nvSpPr>
          <p:cNvPr id="22" name="Text 20"/>
          <p:cNvSpPr/>
          <p:nvPr/>
        </p:nvSpPr>
        <p:spPr>
          <a:xfrm>
            <a:off x="3794760" y="326440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900" b="0">
                <a:solidFill>
                  <a:srgbClr val="334155"/>
                </a:solidFill>
                <a:latin typeface="Aptos"/>
              </a:rPr>
              <a:t>Shell-only 9.1.2 / 9.1.3 formulas; visible form same index structure, redacted values unknown.</a:t>
            </a:r>
          </a:p>
        </p:txBody>
      </p:sp>
      <p:sp>
        <p:nvSpPr>
          <p:cNvPr id="23" name="Text 21"/>
          <p:cNvSpPr/>
          <p:nvPr/>
        </p:nvSpPr>
        <p:spPr>
          <a:xfrm>
            <a:off x="640080" y="3675888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1353312" y="3657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Index fallback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794760" y="365760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Similar fallback architecture.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640080" y="4069080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1353312" y="40507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Cargo invoicing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794760" y="405079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Cargo invoice = CSP × loaded MMBtu.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640080" y="4462272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1353312" y="44439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Late payment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794760" y="4443984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SOFR-based visible mechanism.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640080" y="4855464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1353312" y="48371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Taxes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794760" y="483717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No material divergence surfaced.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640080" y="5248656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1353312" y="5230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DoP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794760" y="523036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Same architecture; caps and some values redacted.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640080" y="5641848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1353312" y="5623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Shortfall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794760" y="562356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Same framework; result differs through CSP and scheduled ACQ scale.</a:t>
            </a:r>
          </a:p>
        </p:txBody>
      </p:sp>
      <p:sp>
        <p:nvSpPr>
          <p:cNvPr id="41" name="Text 39"/>
          <p:cNvSpPr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3"/>
                </a:solidFill>
              </a:rPr>
              <a:t>Driftwood LNG SPA economic-terms comparison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3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D: logistics, quality, FM and credit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Condensed row-level inventory from the merged corrected MD.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16736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1353312" y="12984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Operational tolerance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94760" y="129844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Broad concept common; payment details redacted.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640080" y="1709928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1353312" y="1691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Resale mitigation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794760" y="169164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Shell-style in-tank DoP resale wording requires blackline.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1353312" y="20848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Laytime/services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794760" y="208483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Common cost classes; detailed wording to blackline.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640080" y="2496312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353312" y="24780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Quality spec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794760" y="2478024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No first-order difference identified.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640080" y="2889504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1353312" y="287121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Off-spec LNG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794760" y="287121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Similar architecture; remedy calculations need check.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640080" y="3282696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1353312" y="32644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Measurement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794760" y="326440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Common MMBtu measurement/test framework.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640080" y="3675888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1353312" y="3657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Export laws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794760" y="365760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Same risk class; precise wording to blackline.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640080" y="4069080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1353312" y="40507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FM architecture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794760" y="405079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Broadly similar; exceptions and notice wording not identical.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640080" y="4462272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1353312" y="44439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Upstream FM HH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794760" y="4443984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Core buyer election common.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640080" y="4855464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1353312" y="48371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Upstream FM cure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794760" y="483717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Corrected: appears in all four.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640080" y="5248656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1353312" y="5230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Foundation pro-rata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794760" y="523036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Pure allocation formula equivalent.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640080" y="5641848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1353312" y="5623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HH carve-out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794760" y="562356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Separate AMBER interaction row.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3"/>
                </a:solidFill>
              </a:rPr>
              <a:t>Driftwood LNG SPA economic-terms comparison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3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E: credit, structure, ESG and disputes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Condensed row-level inventory from the merged corrected MD.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16736"/>
            <a:ext cx="566928" cy="182880"/>
          </a:xfrm>
          <a:prstGeom prst="rect">
            <a:avLst/>
          </a:prstGeom>
          <a:solidFill>
            <a:srgbClr val="F8D8D5"/>
          </a:solidFill>
          <a:ln>
            <a:solidFill>
              <a:srgbClr val="B3261E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261E"/>
                </a:solidFill>
              </a:rPr>
              <a:t>RED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1353312" y="12984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Credit support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94760" y="129844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Named Vitol/Gunvor support vs Shell generic support.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640080" y="1709928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1353312" y="1691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Guaranty cap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794760" y="169164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Gunvor-specific capped defined guaranty term.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1353312" y="20848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Liability caps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794760" y="208483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Amounts redacted.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640080" y="2496312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353312" y="24780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Insurance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794760" y="2478024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No first-order difference identified.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640080" y="2889504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1353312" y="287121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Direct agreement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794760" y="287121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Present across all.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640080" y="3282696"/>
            <a:ext cx="566928" cy="182880"/>
          </a:xfrm>
          <a:prstGeom prst="rect">
            <a:avLst/>
          </a:prstGeom>
          <a:solidFill>
            <a:srgbClr val="F8D8D5"/>
          </a:solidFill>
          <a:ln>
            <a:solidFill>
              <a:srgbClr val="B3261E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261E"/>
                </a:solidFill>
              </a:rPr>
              <a:t>RED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1353312" y="32644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Multiple SPAs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794760" y="326440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Shell-only coordination clause.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640080" y="3675888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1353312" y="3657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Assignment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794760" y="365760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Gunvor has broader contractual-entitlement wording.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640080" y="4069080"/>
            <a:ext cx="566928" cy="182880"/>
          </a:xfrm>
          <a:prstGeom prst="rect">
            <a:avLst/>
          </a:prstGeom>
          <a:solidFill>
            <a:srgbClr val="DDEFE2"/>
          </a:solidFill>
          <a:ln>
            <a:solidFill>
              <a:srgbClr val="2E7D32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E7D32"/>
                </a:solidFill>
              </a:rPr>
              <a:t>GREEN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1353312" y="40507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Information exchange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794760" y="405079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No first-order difference identified.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640080" y="4462272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1353312" y="44439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Confidentiality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794760" y="4443984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Vitol mental-impressions wording identified.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640080" y="4855464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1353312" y="48371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Emissions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794760" y="483717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Shell data access; Vitol buyer-cost/incentive language.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640080" y="5248656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1353312" y="5230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HSEC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794760" y="523036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Gunvor appears to have extra HSEC layer.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640080" y="5641848"/>
            <a:ext cx="566928" cy="182880"/>
          </a:xfrm>
          <a:prstGeom prst="rect">
            <a:avLst/>
          </a:prstGeom>
          <a:solidFill>
            <a:srgbClr val="FFF0D5"/>
          </a:solidFill>
          <a:ln>
            <a:solidFill>
              <a:srgbClr val="B36B00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36B00"/>
                </a:solidFill>
              </a:rPr>
              <a:t>AMBER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1353312" y="5623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Sanctions/disputes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794760" y="562356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</a:rPr>
              <a:t>Same broad class; detailed wording to blackline.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3"/>
                </a:solidFill>
              </a:rPr>
              <a:t>Driftwood LNG SPA economic-terms comparison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3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E293B"/>
                </a:solidFill>
                <a:latin typeface="Aptos"/>
              </a:rPr>
              <a:t>Appendix F: base CSP formula text as filed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8813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Visible and redacted formula wording from Section 9.1.1. Constants remain redacted as [***].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623560" cy="192024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216152"/>
            <a:ext cx="54041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1E293B"/>
                </a:solidFill>
                <a:latin typeface="Aptos"/>
              </a:rPr>
              <a:t>Vitol base CSP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72184"/>
            <a:ext cx="5404104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60" b="0">
                <a:solidFill>
                  <a:srgbClr val="334155"/>
                </a:solidFill>
                <a:latin typeface="Aptos"/>
              </a:rPr>
              <a:t>CSP = [***] x (JKM CSP + TTF CSP)</a:t>
            </a:r>
          </a:p>
          <a:p/>
          <a:p>
            <a:r>
              <a:rPr sz="760" b="0">
                <a:solidFill>
                  <a:srgbClr val="334155"/>
                </a:solidFill>
                <a:latin typeface="Aptos"/>
              </a:rPr>
              <a:t>JKM CSP = greater of (a) {([***]% x JKM) – US$[***]/MMBtu} and (b) US$[***]/MMBtu</a:t>
            </a:r>
          </a:p>
          <a:p/>
          <a:p>
            <a:r>
              <a:rPr sz="760" b="0">
                <a:solidFill>
                  <a:srgbClr val="334155"/>
                </a:solidFill>
                <a:latin typeface="Aptos"/>
              </a:rPr>
              <a:t>TTF CSP = greater of (a) {([***]% x TTF) – US$[***]/MMBtu} and (b) US$[***]/MMBtu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43000"/>
            <a:ext cx="5394960" cy="192024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216152"/>
            <a:ext cx="51755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1E293B"/>
                </a:solidFill>
                <a:latin typeface="Aptos"/>
              </a:rPr>
              <a:t>Gunvor base CSP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472184"/>
            <a:ext cx="5175504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60" b="0">
                <a:solidFill>
                  <a:srgbClr val="334155"/>
                </a:solidFill>
                <a:latin typeface="Aptos"/>
              </a:rPr>
              <a:t>CSP = ([***]% JKM CSP) + ([***]%TTF CSP)</a:t>
            </a:r>
          </a:p>
          <a:p/>
          <a:p>
            <a:r>
              <a:rPr sz="760" b="0">
                <a:solidFill>
                  <a:srgbClr val="334155"/>
                </a:solidFill>
                <a:latin typeface="Aptos"/>
              </a:rPr>
              <a:t>JKM CSP = greater of (a) [***]% JKM – US$[***]/MMBtu and (b) US$[***]/MMBtu</a:t>
            </a:r>
          </a:p>
          <a:p/>
          <a:p>
            <a:r>
              <a:rPr sz="760" b="0">
                <a:solidFill>
                  <a:srgbClr val="334155"/>
                </a:solidFill>
                <a:latin typeface="Aptos"/>
              </a:rPr>
              <a:t>TTF CSP = greater of (a) [***]% TTF – US$[***]/MMBtu and (b) US$[***]/MMBtu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37560"/>
            <a:ext cx="5623560" cy="150876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410712"/>
            <a:ext cx="54041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1E293B"/>
                </a:solidFill>
                <a:latin typeface="Aptos"/>
              </a:rPr>
              <a:t>Shell SPA1 base CSP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666744"/>
            <a:ext cx="5404104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60" b="0">
                <a:solidFill>
                  <a:srgbClr val="334155"/>
                </a:solidFill>
                <a:latin typeface="Aptos"/>
              </a:rPr>
              <a:t>CSP = greater of (a) {([***]% x JKM) – US$[***]/MMBtu} and (b) US$[***]/MMBtu</a:t>
            </a:r>
          </a:p>
          <a:p/>
          <a:p>
            <a:r>
              <a:rPr sz="760" b="0">
                <a:solidFill>
                  <a:srgbClr val="334155"/>
                </a:solidFill>
                <a:latin typeface="Aptos"/>
              </a:rPr>
              <a:t>This is the 10-year base-term JKM-linked formula. Numeric slope, deduction and floor are redacted.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337560"/>
            <a:ext cx="5394960" cy="150876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410712"/>
            <a:ext cx="51755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1E293B"/>
                </a:solidFill>
                <a:latin typeface="Aptos"/>
              </a:rPr>
              <a:t>Shell SPA2 base CSP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666744"/>
            <a:ext cx="5175504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60" b="0">
                <a:solidFill>
                  <a:srgbClr val="334155"/>
                </a:solidFill>
                <a:latin typeface="Aptos"/>
              </a:rPr>
              <a:t>CSP = greater of (a) {([***]% x TTF) – US$[***]/MMBtu} and (b) US$[***]/MMBtu</a:t>
            </a:r>
          </a:p>
          <a:p/>
          <a:p>
            <a:r>
              <a:rPr sz="760" b="0">
                <a:solidFill>
                  <a:srgbClr val="334155"/>
                </a:solidFill>
                <a:latin typeface="Aptos"/>
              </a:rPr>
              <a:t>This is the 10-year base-term TTF-linked formula. Numeric slope, deduction and floor are redacted.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12080"/>
            <a:ext cx="1069848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19" b="0">
                <a:solidFill>
                  <a:srgbClr val="334155"/>
                </a:solidFill>
                <a:latin typeface="Aptos"/>
              </a:rPr>
              <a:t>Fact: the visible formula shape is different across the four agreements. Unknown: the commercial strike/level, because all key constants are redacted. Do not infer that extension constants equal base constants.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64748B"/>
                </a:solidFill>
                <a:latin typeface="Aptos"/>
              </a:rPr>
              <a:t>Driftwood LNG SPA economic-terms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E293B"/>
                </a:solidFill>
                <a:latin typeface="Aptos"/>
              </a:rPr>
              <a:t>Appendix G: extension price formula and signature 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8813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Shell has two buyer-elected five-year extensions. Vitol and Gunvor have no equivalent extension option found.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623560" cy="205740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216152"/>
            <a:ext cx="54041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1E293B"/>
                </a:solidFill>
                <a:latin typeface="Aptos"/>
              </a:rPr>
              <a:t>Shell SPA1 extension CSP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72184"/>
            <a:ext cx="5404104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60" b="0">
                <a:solidFill>
                  <a:srgbClr val="334155"/>
                </a:solidFill>
                <a:latin typeface="Aptos"/>
              </a:rPr>
              <a:t>9.1.2 first extension:</a:t>
            </a:r>
          </a:p>
          <a:p>
            <a:r>
              <a:rPr sz="760" b="0">
                <a:solidFill>
                  <a:srgbClr val="334155"/>
                </a:solidFill>
                <a:latin typeface="Aptos"/>
              </a:rPr>
              <a:t>CSP = greater of (a) {([***]% x JKM) – US$[***]/MMBtu} and (b) US$[***]/MMBtu</a:t>
            </a:r>
          </a:p>
          <a:p/>
          <a:p>
            <a:r>
              <a:rPr sz="760" b="0">
                <a:solidFill>
                  <a:srgbClr val="334155"/>
                </a:solidFill>
                <a:latin typeface="Aptos"/>
              </a:rPr>
              <a:t>9.1.3 second extension:</a:t>
            </a:r>
          </a:p>
          <a:p>
            <a:r>
              <a:rPr sz="760" b="0">
                <a:solidFill>
                  <a:srgbClr val="334155"/>
                </a:solidFill>
                <a:latin typeface="Aptos"/>
              </a:rPr>
              <a:t>CSP = greater of (a) {([***]% x JKM) – US$[***]/MMBtu} and (b) US$[***]/MMBtu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43000"/>
            <a:ext cx="5394960" cy="205740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216152"/>
            <a:ext cx="51755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1E293B"/>
                </a:solidFill>
                <a:latin typeface="Aptos"/>
              </a:rPr>
              <a:t>Shell SPA2 extension CSP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472184"/>
            <a:ext cx="5175504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60" b="0">
                <a:solidFill>
                  <a:srgbClr val="334155"/>
                </a:solidFill>
                <a:latin typeface="Aptos"/>
              </a:rPr>
              <a:t>9.1.2 first extension:</a:t>
            </a:r>
          </a:p>
          <a:p>
            <a:r>
              <a:rPr sz="760" b="0">
                <a:solidFill>
                  <a:srgbClr val="334155"/>
                </a:solidFill>
                <a:latin typeface="Aptos"/>
              </a:rPr>
              <a:t>CSP = greater of (a) {([***]% x TTF) – US$[***]/MMBtu} and (b) US$[***]/MMBtu.</a:t>
            </a:r>
          </a:p>
          <a:p/>
          <a:p>
            <a:r>
              <a:rPr sz="760" b="0">
                <a:solidFill>
                  <a:srgbClr val="334155"/>
                </a:solidFill>
                <a:latin typeface="Aptos"/>
              </a:rPr>
              <a:t>9.1.3 second extension:</a:t>
            </a:r>
          </a:p>
          <a:p>
            <a:r>
              <a:rPr sz="760" b="0">
                <a:solidFill>
                  <a:srgbClr val="334155"/>
                </a:solidFill>
                <a:latin typeface="Aptos"/>
              </a:rPr>
              <a:t>CSP = greater of (a) {([***]% x TTF) – US$[***]/MMBtu} and (b) US$[***]/MMBtu.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520440"/>
            <a:ext cx="5623560" cy="14173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593592"/>
            <a:ext cx="54041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1E293B"/>
                </a:solidFill>
                <a:latin typeface="Aptos"/>
              </a:rPr>
              <a:t>Vitol / Gunvor extension CSP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849624"/>
            <a:ext cx="5404104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60" b="0">
                <a:solidFill>
                  <a:srgbClr val="334155"/>
                </a:solidFill>
                <a:latin typeface="Aptos"/>
              </a:rPr>
              <a:t>Not applicable: no buyer extension option equivalent to Shell Section 4.1.2 was found in Vitol or Gunvor. Therefore there is no Section 9.1.2 / 9.1.3 extension-price line comparable to Shell.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520440"/>
            <a:ext cx="5394960" cy="141732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593592"/>
            <a:ext cx="51755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1E293B"/>
                </a:solidFill>
                <a:latin typeface="Aptos"/>
              </a:rPr>
              <a:t>Date of signature / Effective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849624"/>
            <a:ext cx="5175504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60" b="0">
                <a:solidFill>
                  <a:srgbClr val="334155"/>
                </a:solidFill>
                <a:latin typeface="Aptos"/>
              </a:rPr>
              <a:t>Signature pages state: “executed this Agreement as of the date first above written.”</a:t>
            </a:r>
          </a:p>
          <a:p/>
          <a:p>
            <a:r>
              <a:rPr sz="760" b="0">
                <a:solidFill>
                  <a:srgbClr val="334155"/>
                </a:solidFill>
                <a:latin typeface="Aptos"/>
              </a:rPr>
              <a:t>Gunvor: 27 May 2021</a:t>
            </a:r>
          </a:p>
          <a:p>
            <a:r>
              <a:rPr sz="760" b="0">
                <a:solidFill>
                  <a:srgbClr val="334155"/>
                </a:solidFill>
                <a:latin typeface="Aptos"/>
              </a:rPr>
              <a:t>Vitol: 2 June 2021</a:t>
            </a:r>
          </a:p>
          <a:p>
            <a:r>
              <a:rPr sz="760" b="0">
                <a:solidFill>
                  <a:srgbClr val="334155"/>
                </a:solidFill>
                <a:latin typeface="Aptos"/>
              </a:rPr>
              <a:t>Shell SPA1: 29 July 2021</a:t>
            </a:r>
          </a:p>
          <a:p>
            <a:r>
              <a:rPr sz="760" b="0">
                <a:solidFill>
                  <a:srgbClr val="334155"/>
                </a:solidFill>
                <a:latin typeface="Aptos"/>
              </a:rPr>
              <a:t>Shell SPA2: 29 July 2021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64748B"/>
                </a:solidFill>
                <a:latin typeface="Aptos"/>
              </a:rPr>
              <a:t>Driftwood LNG SPA economic-terms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Driftwood LNG SPAs: economic differences</dc:title>
  <dc:subject>Driftwood LNG SPA economic terms comparison</dc:subject>
  <dc:creator>OpenAI</dc:creator>
  <cp:lastModifiedBy>OpenAI</cp:lastModifiedBy>
  <cp:revision>1</cp:revision>
  <dcterms:created xsi:type="dcterms:W3CDTF">2026-07-04T23:12:51Z</dcterms:created>
  <dcterms:modified xsi:type="dcterms:W3CDTF">2026-07-04T23:12:51Z</dcterms:modified>
</cp:coreProperties>
</file>